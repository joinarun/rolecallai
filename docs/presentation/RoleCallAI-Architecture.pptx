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9e6e3bc54f4ae1" /><Relationship Type="http://schemas.openxmlformats.org/officeDocument/2006/relationships/extended-properties" Target="/docProps/app.xml" Id="Rf1a136e3059a4c94" /><Relationship Type="http://schemas.openxmlformats.org/officeDocument/2006/relationships/officeDocument" Target="/ppt/presentation.xml" Id="Rc12aba17b4314d78" /></Relationships>
</file>

<file path=ppt/presentation.xml><?xml version="1.0" encoding="utf-8"?>
<p:presentation xmlns:p="http://schemas.openxmlformats.org/presentationml/2006/main">
  <p:sldMasterIdLst>
    <p:sldMasterId xmlns:r="http://schemas.openxmlformats.org/officeDocument/2006/relationships" id="2147483648" r:id="Ra48c4599bb5545ae"/>
  </p:sldMasterIdLst>
  <p:notesMasterIdLst>
    <p:notesMasterId xmlns:r="http://schemas.openxmlformats.org/officeDocument/2006/relationships" r:id="R7f48b82836914c04"/>
  </p:notesMasterIdLst>
  <p:sldIdLst>
    <p:sldId xmlns:r="http://schemas.openxmlformats.org/officeDocument/2006/relationships" id="256" r:id="R1d3f53682e1c4c8d"/>
    <p:sldId xmlns:r="http://schemas.openxmlformats.org/officeDocument/2006/relationships" id="257" r:id="Rb474280fc92342f4"/>
    <p:sldId xmlns:r="http://schemas.openxmlformats.org/officeDocument/2006/relationships" id="258" r:id="R47706221e82c400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6268c45e6994725" /><Relationship Type="http://schemas.openxmlformats.org/officeDocument/2006/relationships/slideMaster" Target="/ppt/slideMasters/slideMaster1.xml" Id="Ra48c4599bb5545ae" /><Relationship Type="http://schemas.openxmlformats.org/officeDocument/2006/relationships/notesMaster" Target="/ppt/notesMasters/notesMaster1.xml" Id="R7f48b82836914c04" /><Relationship Type="http://schemas.openxmlformats.org/officeDocument/2006/relationships/presProps" Target="/ppt/presProps.xml" Id="R9ab4936d93a943d2" /><Relationship Type="http://schemas.openxmlformats.org/officeDocument/2006/relationships/viewProps" Target="/ppt/viewProps.xml" Id="R6b4f8a7f23fb4c1b" /><Relationship Type="http://schemas.openxmlformats.org/officeDocument/2006/relationships/tableStyles" Target="/ppt/tableStyles.xml" Id="R630c34423006473d" /><Relationship Type="http://schemas.openxmlformats.org/officeDocument/2006/relationships/slide" Target="/ppt/slides/slide1.xml" Id="R1d3f53682e1c4c8d" /><Relationship Type="http://schemas.openxmlformats.org/officeDocument/2006/relationships/slide" Target="/ppt/slides/slide2.xml" Id="Rb474280fc92342f4" /><Relationship Type="http://schemas.openxmlformats.org/officeDocument/2006/relationships/slide" Target="/ppt/slides/slide3.xml" Id="R47706221e82c40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edb458b59d45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2130ef9cbe49a7" /><Relationship Type="http://schemas.openxmlformats.org/officeDocument/2006/relationships/notesMaster" Target="/ppt/notesMasters/notesMaster1.xml" Id="R6c7da188d8704b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5d74ee474b4036" /><Relationship Type="http://schemas.openxmlformats.org/officeDocument/2006/relationships/notesMaster" Target="/ppt/notesMasters/notesMaster1.xml" Id="Rb86c6c4290d14d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7f28f899ee4082" /><Relationship Type="http://schemas.openxmlformats.org/officeDocument/2006/relationships/notesMaster" Target="/ppt/notesMasters/notesMaster1.xml" Id="Rc943a185b74e43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The complete map separates the European runtime from one global, fixed-prompt Lyria generation. The output is bundled once and served as static lobby media.
[Sources]
- docs/ARCHITECTURE.md
- docs/LYRIA.md
- https://docs.cloud.google.com/gemini-enterprise-agent-platform/models/lyria/lyria-3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Cloud Run for HTTPS control and identity, but participant audio travels directly to </a:t>
            </a:r>
            <a:r>
              <a:t>LiveKit</a:t>
            </a:r>
            <a:r>
              <a:t> over WebRTC. </a:t>
            </a:r>
            <a:r>
              <a:t>LiveKit</a:t>
            </a:r>
            <a:r>
              <a:t> and ADK run in GKE</a:t>
            </a:r>
            <a:r>
              <a:t>, </a:t>
            </a:r>
            <a:r>
              <a:t> the worker exchanges audio with Gemini Live and uses server-scoped tools for </a:t>
            </a:r>
            <a:r>
              <a:t>Firestore</a:t>
            </a:r>
            <a:r>
              <a:t> and Memory Bank.</a:t>
            </a:r>
          </a:p>
          <a:p xmlns:a="http://schemas.openxmlformats.org/drawingml/2006/main">
            <a:r>
              <a:t>
Cloud Run handles identity, room state and the static music file. Real meeting audio travels directly through LiveKit and ADK to Gemini Live; the music is never a LiveKit track.
[Sources]
- docs/ARCHITECTURE.md
- docs/LYRIA.md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 ingestion, embedding, recap generation and lifecycle operations run outside the live audio loop. Retrieval is scoped by room and frozen ready document versions. The scheduler suspends the voice plane after 30 minutes without genuine activity</a:t>
            </a:r>
            <a:r>
              <a:t>,</a:t>
            </a:r>
            <a:r>
              <a:t> only an authenticated admin can wake it.</a:t>
            </a:r>
          </a:p>
          <a:p xmlns:a="http://schemas.openxmlformats.org/drawingml/2006/main">
            <a:r>
              <a:t>
Document indexing, recap, memory, suspension and the one-time media build remain outside the latency-sensitive native-audio loop.
[Sources]
- docs/ARCHITECTURE.md
- infra/terraform/COST_ESTIMATE.md
- https://docs.cloud.google.com/gemini-enterprise-agent-platform/models/music/generate-music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7b467625974f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6e66a164d745a7" /><Relationship Type="http://schemas.openxmlformats.org/officeDocument/2006/relationships/slideLayout" Target="/ppt/slideLayouts/slideLayout1.xml" Id="R5b90a423053443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3A2BB01A-8D9C-1EB1-6022-09126534426F}"/>
              </a:ext>
            </a:extLst>
          </p:cNvPr>
          <p:cNvSpPr>
            <a:spLocks xmlns:a="http://schemas.openxmlformats.org/drawingml/2006/main" noGrp="1"/>
          </p:cNvSpPr>
          <p:nvPr/>
        </p:nvSpPr>
        <p:spPr>
          <a:xfrm xmlns:a="http://schemas.openxmlformats.org/drawingml/2006/main">
            <a:off x="14363700" y="8387080"/>
            <a:ext cx="833438" cy="12192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800">
                <a:solidFill>
                  <a:srgbClr val="000000">
                    <a:alpha val="50000"/>
                  </a:srgbClr>
                </a:solidFill>
                <a:latin typeface="Aptos"/>
                <a:ea typeface="Aptos"/>
                <a:cs typeface="Aptos"/>
              </a:rPr>
              <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90a423053443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dd894b2803443b" /><Relationship Type="http://schemas.openxmlformats.org/officeDocument/2006/relationships/notesSlide" Target="/ppt/notesSlides/notesSlide1.xml" Id="Rd21f3b4b058549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ef07e1dc5243c9" /><Relationship Type="http://schemas.openxmlformats.org/officeDocument/2006/relationships/notesSlide" Target="/ppt/notesSlides/notesSlide2.xml" Id="Ra3cdf5dc08e64f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2c313c966c482b" /><Relationship Type="http://schemas.openxmlformats.org/officeDocument/2006/relationships/notesSlide" Target="/ppt/notesSlides/notesSlide3.xml" Id="R59c61feab2014def" /></Relationships>
</file>

<file path=ppt/slides/slide1.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3" name="architecture-arrow-0">
            <a:extLst xmlns:a="http://schemas.openxmlformats.org/drawingml/2006/main">
              <a:ext uri="{FF2B5EF4-FFF2-40B4-BE49-F238E27FC236}">
                <a16:creationId xmlns:a16="http://schemas.microsoft.com/office/drawing/2014/main" id="{7130B7F7-26A8-6F88-E276-5AE0833B9F02}"/>
              </a:ext>
            </a:extLst>
          </p:cNvPr>
          <p:cNvSpPr>
            <a:spLocks xmlns:a="http://schemas.openxmlformats.org/drawingml/2006/main" noGrp="1"/>
          </p:cNvSpPr>
          <p:nvPr/>
        </p:nvSpPr>
        <p:spPr>
          <a:xfrm xmlns:a="http://schemas.openxmlformats.org/drawingml/2006/main">
            <a:off x="1624434" y="2575253"/>
            <a:ext cx="969914" cy="238125"/>
          </a:xfrm>
          <a:prstGeom xmlns:a="http://schemas.openxmlformats.org/drawingml/2006/main" prst="rightArrow">
            <a:avLst/>
          </a:prstGeom>
          <a:solidFill xmlns:a="http://schemas.openxmlformats.org/drawingml/2006/main">
            <a:srgbClr val="68E2B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sz="2250"/>
          </a:p>
        </p:txBody>
      </p:sp>
      <p:sp>
        <p:nvSpPr>
          <p:cNvPr id="4" name="architecture-arrow-1">
            <a:extLst xmlns:a="http://schemas.openxmlformats.org/drawingml/2006/main">
              <a:ext uri="{FF2B5EF4-FFF2-40B4-BE49-F238E27FC236}">
                <a16:creationId xmlns:a16="http://schemas.microsoft.com/office/drawing/2014/main" id="{05292DD4-28FA-5322-0A57-994B0EFBD8BB}"/>
              </a:ext>
            </a:extLst>
          </p:cNvPr>
          <p:cNvSpPr>
            <a:spLocks xmlns:a="http://schemas.openxmlformats.org/drawingml/2006/main" noGrp="1"/>
          </p:cNvSpPr>
          <p:nvPr/>
        </p:nvSpPr>
        <p:spPr>
          <a:xfrm xmlns:a="http://schemas.openxmlformats.org/drawingml/2006/main">
            <a:off x="1558108" y="6510419"/>
            <a:ext cx="1036239" cy="238125"/>
          </a:xfrm>
          <a:prstGeom xmlns:a="http://schemas.openxmlformats.org/drawingml/2006/main" prst="rightArrow">
            <a:avLst/>
          </a:prstGeom>
          <a:solidFill xmlns:a="http://schemas.openxmlformats.org/drawingml/2006/main">
            <a:srgbClr val="FC6F6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sz="2250"/>
          </a:p>
        </p:txBody>
      </p:sp>
      <p:sp>
        <p:nvSpPr>
          <p:cNvPr id="10" name="browser-box">
            <a:extLst xmlns:a="http://schemas.openxmlformats.org/drawingml/2006/main">
              <a:ext uri="{FF2B5EF4-FFF2-40B4-BE49-F238E27FC236}">
                <a16:creationId xmlns:a16="http://schemas.microsoft.com/office/drawing/2014/main" id="{E48167D4-F93B-8F3B-D8E3-07C64C31A7D2}"/>
              </a:ext>
            </a:extLst>
          </p:cNvPr>
          <p:cNvSpPr>
            <a:spLocks xmlns:a="http://schemas.openxmlformats.org/drawingml/2006/main" noGrp="1"/>
          </p:cNvSpPr>
          <p:nvPr/>
        </p:nvSpPr>
        <p:spPr>
          <a:xfrm xmlns:a="http://schemas.openxmlformats.org/drawingml/2006/main">
            <a:off x="147271" y="1917499"/>
            <a:ext cx="1462215" cy="5199815"/>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67C9F5"/>
            </a:solidFill>
            <a:prstDash val="solid"/>
          </a:ln>
        </p:spPr>
        <p:txBody>
          <a:bodyPr xmlns:a="http://schemas.openxmlformats.org/drawingml/2006/main"/>
          <a:lstStyle xmlns:a="http://schemas.openxmlformats.org/drawingml/2006/main"/>
          <a:p xmlns:a="http://schemas.openxmlformats.org/drawingml/2006/main">
            <a:endParaRPr sz="2250"/>
          </a:p>
        </p:txBody>
      </p:sp>
      <p:sp>
        <p:nvSpPr>
          <p:cNvPr id="11" name="browser-label">
            <a:extLst xmlns:a="http://schemas.openxmlformats.org/drawingml/2006/main">
              <a:ext uri="{FF2B5EF4-FFF2-40B4-BE49-F238E27FC236}">
                <a16:creationId xmlns:a16="http://schemas.microsoft.com/office/drawing/2014/main" id="{5B424EFF-F50D-891D-AD11-111D4210F5A7}"/>
              </a:ext>
            </a:extLst>
          </p:cNvPr>
          <p:cNvSpPr>
            <a:spLocks xmlns:a="http://schemas.openxmlformats.org/drawingml/2006/main" noGrp="1"/>
          </p:cNvSpPr>
          <p:nvPr/>
        </p:nvSpPr>
        <p:spPr>
          <a:xfrm xmlns:a="http://schemas.openxmlformats.org/drawingml/2006/main">
            <a:off x="242951" y="2587802"/>
            <a:ext cx="1247904" cy="6485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208"/>
          </a:bodyPr>
          <a:lstStyle xmlns:a="http://schemas.openxmlformats.org/drawingml/2006/main"/>
          <a:p xmlns:a="http://schemas.openxmlformats.org/drawingml/2006/main">
            <a:pPr algn="ctr">
              <a:buNone/>
              <a:defRPr sz="1425" b="1">
                <a:solidFill>
                  <a:srgbClr val="FFFFFF"/>
                </a:solidFill>
                <a:latin typeface="Helvetica Neue"/>
                <a:ea typeface="Helvetica Neue"/>
                <a:cs typeface="Helvetica Neue"/>
              </a:defRPr>
            </a:pPr>
            <a:r>
              <a:rPr sz="1781" b="1">
                <a:solidFill>
                  <a:srgbClr val="FFFFFF"/>
                </a:solidFill>
                <a:latin typeface="Helvetica Neue"/>
                <a:ea typeface="Helvetica Neue"/>
                <a:cs typeface="Helvetica Neue"/>
              </a:rPr>
              <a:t>Browser clients</a:t>
            </a:r>
          </a:p>
        </p:txBody>
      </p:sp>
      <p:sp>
        <p:nvSpPr>
          <p:cNvPr id="12" name="browser-sub">
            <a:extLst xmlns:a="http://schemas.openxmlformats.org/drawingml/2006/main">
              <a:ext uri="{FF2B5EF4-FFF2-40B4-BE49-F238E27FC236}">
                <a16:creationId xmlns:a16="http://schemas.microsoft.com/office/drawing/2014/main" id="{319533BE-1BC0-676D-B469-0BBDD40848D8}"/>
              </a:ext>
            </a:extLst>
          </p:cNvPr>
          <p:cNvSpPr>
            <a:spLocks xmlns:a="http://schemas.openxmlformats.org/drawingml/2006/main" noGrp="1"/>
          </p:cNvSpPr>
          <p:nvPr/>
        </p:nvSpPr>
        <p:spPr>
          <a:xfrm xmlns:a="http://schemas.openxmlformats.org/drawingml/2006/main">
            <a:off x="-133866" y="3456151"/>
            <a:ext cx="1714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r>
              <a:rPr sz="1219">
                <a:solidFill>
                  <a:srgbClr val="C8CEE9"/>
                </a:solidFill>
                <a:latin typeface="Helvetica Neue"/>
                <a:ea typeface="Helvetica Neue"/>
                <a:cs typeface="Helvetica Neue"/>
              </a:rPr>
              <a:t>Admin + 2–10 participants</a:t>
            </a:r>
          </a:p>
        </p:txBody>
      </p:sp>
      <p:sp>
        <p:nvSpPr>
          <p:cNvPr id="13" name="control-box">
            <a:extLst xmlns:a="http://schemas.openxmlformats.org/drawingml/2006/main">
              <a:ext uri="{FF2B5EF4-FFF2-40B4-BE49-F238E27FC236}">
                <a16:creationId xmlns:a16="http://schemas.microsoft.com/office/drawing/2014/main" id="{88A486F9-8AFB-4EF7-7CD1-2693ABCA03C1}"/>
              </a:ext>
            </a:extLst>
          </p:cNvPr>
          <p:cNvSpPr>
            <a:spLocks xmlns:a="http://schemas.openxmlformats.org/drawingml/2006/main" noGrp="1"/>
          </p:cNvSpPr>
          <p:nvPr/>
        </p:nvSpPr>
        <p:spPr>
          <a:xfrm xmlns:a="http://schemas.openxmlformats.org/drawingml/2006/main">
            <a:off x="2583045" y="1261672"/>
            <a:ext cx="8167688" cy="1945798"/>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68E2BE"/>
            </a:solidFill>
            <a:prstDash val="solid"/>
          </a:ln>
        </p:spPr>
        <p:txBody>
          <a:bodyPr xmlns:a="http://schemas.openxmlformats.org/drawingml/2006/main"/>
          <a:lstStyle xmlns:a="http://schemas.openxmlformats.org/drawingml/2006/main"/>
          <a:p xmlns:a="http://schemas.openxmlformats.org/drawingml/2006/main">
            <a:pPr algn="ctr">
              <a:buNone/>
            </a:pPr>
            <a:r>
              <a:rPr sz="2250">
                <a:solidFill>
                  <a:schemeClr val="bg1"/>
                </a:solidFill>
              </a:rPr>
              <a:t>Control Plane and Security</a:t>
            </a:r>
          </a:p>
        </p:txBody>
      </p:sp>
      <p:sp>
        <p:nvSpPr>
          <p:cNvPr id="15" name="control-sub">
            <a:extLst xmlns:a="http://schemas.openxmlformats.org/drawingml/2006/main">
              <a:ext uri="{FF2B5EF4-FFF2-40B4-BE49-F238E27FC236}">
                <a16:creationId xmlns:a16="http://schemas.microsoft.com/office/drawing/2014/main" id="{5CECBE72-7AA5-08B1-CFE7-1A75A3984EE1}"/>
              </a:ext>
            </a:extLst>
          </p:cNvPr>
          <p:cNvSpPr>
            <a:spLocks xmlns:a="http://schemas.openxmlformats.org/drawingml/2006/main" noGrp="1"/>
          </p:cNvSpPr>
          <p:nvPr/>
        </p:nvSpPr>
        <p:spPr>
          <a:xfrm xmlns:a="http://schemas.openxmlformats.org/drawingml/2006/main">
            <a:off x="4735177" y="2629398"/>
            <a:ext cx="1928813"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975">
                <a:solidFill>
                  <a:srgbClr val="C8CEE9"/>
                </a:solidFill>
                <a:latin typeface="Helvetica Neue"/>
                <a:ea typeface="Helvetica Neue"/>
                <a:cs typeface="Helvetica Neue"/>
              </a:defRPr>
            </a:pPr>
            <a:endParaRPr sz="1219">
              <a:solidFill>
                <a:srgbClr val="C8CEE9"/>
              </a:solidFill>
              <a:latin typeface="Helvetica Neue"/>
              <a:ea typeface="Helvetica Neue"/>
              <a:cs typeface="Helvetica Neue"/>
            </a:endParaRPr>
          </a:p>
        </p:txBody>
      </p:sp>
      <p:sp>
        <p:nvSpPr>
          <p:cNvPr id="16" name="livekit-box">
            <a:extLst xmlns:a="http://schemas.openxmlformats.org/drawingml/2006/main">
              <a:ext uri="{FF2B5EF4-FFF2-40B4-BE49-F238E27FC236}">
                <a16:creationId xmlns:a16="http://schemas.microsoft.com/office/drawing/2014/main" id="{8E5173AB-B131-C8BA-512E-4C6403CE484A}"/>
              </a:ext>
            </a:extLst>
          </p:cNvPr>
          <p:cNvSpPr>
            <a:spLocks xmlns:a="http://schemas.openxmlformats.org/drawingml/2006/main" noGrp="1"/>
          </p:cNvSpPr>
          <p:nvPr/>
        </p:nvSpPr>
        <p:spPr>
          <a:xfrm xmlns:a="http://schemas.openxmlformats.org/drawingml/2006/main">
            <a:off x="2594358" y="3538268"/>
            <a:ext cx="7542640" cy="1657659"/>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8A7CFF"/>
            </a:solidFill>
            <a:prstDash val="solid"/>
          </a:ln>
        </p:spPr>
        <p:txBody>
          <a:bodyPr xmlns:a="http://schemas.openxmlformats.org/drawingml/2006/main"/>
          <a:lstStyle xmlns:a="http://schemas.openxmlformats.org/drawingml/2006/main"/>
          <a:p xmlns:a="http://schemas.openxmlformats.org/drawingml/2006/main">
            <a:pPr algn="ctr">
              <a:buNone/>
            </a:pPr>
            <a:r>
              <a:rPr sz="2250">
                <a:solidFill>
                  <a:schemeClr val="bg1"/>
                </a:solidFill>
              </a:rPr>
              <a:t>Vertex AI</a:t>
            </a:r>
          </a:p>
        </p:txBody>
      </p:sp>
      <p:sp>
        <p:nvSpPr>
          <p:cNvPr id="19" name="worker-box">
            <a:extLst xmlns:a="http://schemas.openxmlformats.org/drawingml/2006/main">
              <a:ext uri="{FF2B5EF4-FFF2-40B4-BE49-F238E27FC236}">
                <a16:creationId xmlns:a16="http://schemas.microsoft.com/office/drawing/2014/main" id="{9B530E72-1FEF-CBF9-0684-FBC808B87608}"/>
              </a:ext>
            </a:extLst>
          </p:cNvPr>
          <p:cNvSpPr>
            <a:spLocks xmlns:a="http://schemas.openxmlformats.org/drawingml/2006/main" noGrp="1"/>
          </p:cNvSpPr>
          <p:nvPr/>
        </p:nvSpPr>
        <p:spPr>
          <a:xfrm xmlns:a="http://schemas.openxmlformats.org/drawingml/2006/main">
            <a:off x="2583045" y="5629419"/>
            <a:ext cx="7867458" cy="2355194"/>
          </a:xfrm>
          <a:prstGeom xmlns:a="http://schemas.openxmlformats.org/drawingml/2006/main" prst="roundRect">
            <a:avLst>
              <a:gd name="adj" fmla="val 11667"/>
            </a:avLst>
          </a:prstGeom>
          <a:solidFill xmlns:a="http://schemas.openxmlformats.org/drawingml/2006/main">
            <a:srgbClr val="141B48"/>
          </a:solidFill>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pPr algn="ctr">
              <a:buNone/>
            </a:pPr>
            <a:r>
              <a:rPr sz="2250">
                <a:solidFill>
                  <a:schemeClr val="bg1"/>
                </a:solidFill>
              </a:rPr>
              <a:t>Voice Plane</a:t>
            </a:r>
          </a:p>
        </p:txBody>
      </p:sp>
      <p:sp>
        <p:nvSpPr>
          <p:cNvPr id="25" name="firestore-box">
            <a:extLst xmlns:a="http://schemas.openxmlformats.org/drawingml/2006/main">
              <a:ext uri="{FF2B5EF4-FFF2-40B4-BE49-F238E27FC236}">
                <a16:creationId xmlns:a16="http://schemas.microsoft.com/office/drawing/2014/main" id="{473515B8-52C6-1DE2-5F27-6D625470D4E3}"/>
              </a:ext>
            </a:extLst>
          </p:cNvPr>
          <p:cNvSpPr>
            <a:spLocks xmlns:a="http://schemas.openxmlformats.org/drawingml/2006/main" noGrp="1"/>
          </p:cNvSpPr>
          <p:nvPr/>
        </p:nvSpPr>
        <p:spPr>
          <a:xfrm xmlns:a="http://schemas.openxmlformats.org/drawingml/2006/main">
            <a:off x="11624516" y="756090"/>
            <a:ext cx="2768736" cy="2563183"/>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FF00"/>
            </a:solidFill>
            <a:prstDash val="solid"/>
          </a:ln>
        </p:spPr>
        <p:txBody>
          <a:bodyPr xmlns:a="http://schemas.openxmlformats.org/drawingml/2006/main"/>
          <a:lstStyle xmlns:a="http://schemas.openxmlformats.org/drawingml/2006/main"/>
          <a:p xmlns:a="http://schemas.openxmlformats.org/drawingml/2006/main">
            <a:r>
              <a:rPr sz="1750">
                <a:solidFill>
                  <a:schemeClr val="bg1"/>
                </a:solidFill>
              </a:rPr>
              <a:t>RAG &amp; Persistent data</a:t>
            </a:r>
          </a:p>
        </p:txBody>
      </p:sp>
      <p:sp>
        <p:nvSpPr>
          <p:cNvPr id="31" name="post-box">
            <a:extLst xmlns:a="http://schemas.openxmlformats.org/drawingml/2006/main">
              <a:ext uri="{FF2B5EF4-FFF2-40B4-BE49-F238E27FC236}">
                <a16:creationId xmlns:a16="http://schemas.microsoft.com/office/drawing/2014/main" id="{1FACDEFB-61D6-CD74-DF52-69319136E266}"/>
              </a:ext>
            </a:extLst>
          </p:cNvPr>
          <p:cNvSpPr>
            <a:spLocks xmlns:a="http://schemas.openxmlformats.org/drawingml/2006/main" noGrp="1"/>
          </p:cNvSpPr>
          <p:nvPr/>
        </p:nvSpPr>
        <p:spPr>
          <a:xfrm xmlns:a="http://schemas.openxmlformats.org/drawingml/2006/main">
            <a:off x="3023251" y="6510419"/>
            <a:ext cx="1462215" cy="905729"/>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Signal + TURN Load Balancer</a:t>
            </a:r>
          </a:p>
        </p:txBody>
      </p:sp>
      <p:sp>
        <p:nvSpPr>
          <p:cNvPr id="36" name="footer-brand-5">
            <a:extLst xmlns:a="http://schemas.openxmlformats.org/drawingml/2006/main">
              <a:ext uri="{FF2B5EF4-FFF2-40B4-BE49-F238E27FC236}">
                <a16:creationId xmlns:a16="http://schemas.microsoft.com/office/drawing/2014/main" id="{B5DD3585-FE10-B985-2C92-9DED4032A30B}"/>
              </a:ext>
            </a:extLst>
          </p:cNvPr>
          <p:cNvSpPr>
            <a:spLocks xmlns:a="http://schemas.openxmlformats.org/drawingml/2006/main" noGrp="1"/>
          </p:cNvSpPr>
          <p:nvPr/>
        </p:nvSpPr>
        <p:spPr>
          <a:xfrm xmlns:a="http://schemas.openxmlformats.org/drawingml/2006/main">
            <a:off x="762000" y="8108156"/>
            <a:ext cx="2143125" cy="2619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87" lnSpcReduction="10000"/>
          </a:bodyPr>
          <a:lstStyle xmlns:a="http://schemas.openxmlformats.org/drawingml/2006/main"/>
          <a:p xmlns:a="http://schemas.openxmlformats.org/drawingml/2006/main">
            <a:pPr>
              <a:buNone/>
              <a:defRPr sz="975" b="1">
                <a:solidFill>
                  <a:srgbClr val="AEB5D5"/>
                </a:solidFill>
                <a:latin typeface="Helvetica Neue"/>
                <a:ea typeface="Helvetica Neue"/>
                <a:cs typeface="Helvetica Neue"/>
              </a:defRPr>
            </a:pPr>
            <a:r>
              <a:rPr sz="1219" b="1">
                <a:solidFill>
                  <a:srgbClr val="AEB5D5"/>
                </a:solidFill>
                <a:latin typeface="Helvetica Neue"/>
                <a:ea typeface="Helvetica Neue"/>
                <a:cs typeface="Helvetica Neue"/>
              </a:rPr>
              <a:t>RoleCallAI</a:t>
            </a:r>
            <a:endParaRPr sz="1219" b="1">
              <a:solidFill>
                <a:srgbClr val="AEB5D5"/>
              </a:solidFill>
              <a:latin typeface="Helvetica Neue"/>
              <a:ea typeface="Helvetica Neue"/>
              <a:cs typeface="Helvetica Neue"/>
            </a:endParaRPr>
          </a:p>
        </p:txBody>
      </p:sp>
      <p:sp>
        <p:nvSpPr>
          <p:cNvPr id="41" name="gemini-box">
            <a:extLst xmlns:a="http://schemas.openxmlformats.org/drawingml/2006/main">
              <a:ext uri="{FF2B5EF4-FFF2-40B4-BE49-F238E27FC236}">
                <a16:creationId xmlns:a16="http://schemas.microsoft.com/office/drawing/2014/main" id="{A5B19E57-9FAF-BCE0-EEDB-562F6CF3DAB6}"/>
              </a:ext>
            </a:extLst>
          </p:cNvPr>
          <p:cNvSpPr>
            <a:spLocks xmlns:a="http://schemas.openxmlformats.org/drawingml/2006/main" noGrp="1"/>
          </p:cNvSpPr>
          <p:nvPr/>
        </p:nvSpPr>
        <p:spPr>
          <a:xfrm xmlns:a="http://schemas.openxmlformats.org/drawingml/2006/main">
            <a:off x="2789440" y="2013859"/>
            <a:ext cx="1702103" cy="922159"/>
          </a:xfrm>
          <a:prstGeom xmlns:a="http://schemas.openxmlformats.org/drawingml/2006/main" prst="roundRect">
            <a:avLst>
              <a:gd name="adj" fmla="val 11667"/>
            </a:avLst>
          </a:prstGeom>
          <a:solidFill xmlns:a="http://schemas.openxmlformats.org/drawingml/2006/main">
            <a:srgbClr val="131B48"/>
          </a:solidFill>
          <a:ln xmlns:a="http://schemas.openxmlformats.org/drawingml/2006/main" w="19050">
            <a:solidFill>
              <a:srgbClr val="68E2BE"/>
            </a:solidFill>
            <a:prstDash val="solid"/>
          </a:ln>
        </p:spPr>
        <p:txBody>
          <a:bodyPr xmlns:a="http://schemas.openxmlformats.org/drawingml/2006/main"/>
          <a:lstStyle xmlns:a="http://schemas.openxmlformats.org/drawingml/2006/main"/>
          <a:p xmlns:a="http://schemas.openxmlformats.org/drawingml/2006/main">
            <a:pPr algn="ctr">
              <a:buNone/>
            </a:pPr>
            <a:r>
              <a:rPr sz="1500">
                <a:solidFill>
                  <a:srgbClr val="C8CEE9"/>
                </a:solidFill>
                <a:latin typeface="Helvetica Neue"/>
                <a:ea typeface="Helvetica Neue"/>
                <a:cs typeface="Helvetica Neue"/>
              </a:rPr>
              <a:t>Cloud Run React UI + </a:t>
            </a:r>
            <a:r>
              <a:rPr sz="1500">
                <a:solidFill>
                  <a:srgbClr val="C8CEE9"/>
                </a:solidFill>
                <a:latin typeface="Helvetica Neue"/>
                <a:ea typeface="Helvetica Neue"/>
                <a:cs typeface="Helvetica Neue"/>
              </a:rPr>
              <a:t>FastAPI</a:t>
            </a:r>
            <a:endParaRPr sz="1500">
              <a:solidFill>
                <a:srgbClr val="C8CEE9"/>
              </a:solidFill>
              <a:latin typeface="Helvetica Neue"/>
              <a:ea typeface="Helvetica Neue"/>
              <a:cs typeface="Helvetica Neue"/>
            </a:endParaRPr>
          </a:p>
          <a:p xmlns:a="http://schemas.openxmlformats.org/drawingml/2006/main">
            <a:endParaRPr sz="2250">
              <a:solidFill>
                <a:schemeClr val="bg1"/>
              </a:solidFill>
            </a:endParaRPr>
          </a:p>
        </p:txBody>
      </p:sp>
      <p:sp>
        <p:nvSpPr>
          <p:cNvPr id="42" name="gemini-box">
            <a:extLst xmlns:a="http://schemas.openxmlformats.org/drawingml/2006/main">
              <a:ext uri="{FF2B5EF4-FFF2-40B4-BE49-F238E27FC236}">
                <a16:creationId xmlns:a16="http://schemas.microsoft.com/office/drawing/2014/main" id="{F04B2C93-3950-1037-9D14-CC4244BB9808}"/>
              </a:ext>
            </a:extLst>
          </p:cNvPr>
          <p:cNvSpPr>
            <a:spLocks xmlns:a="http://schemas.openxmlformats.org/drawingml/2006/main" noGrp="1"/>
          </p:cNvSpPr>
          <p:nvPr/>
        </p:nvSpPr>
        <p:spPr>
          <a:xfrm xmlns:a="http://schemas.openxmlformats.org/drawingml/2006/main">
            <a:off x="4772419" y="1996285"/>
            <a:ext cx="1825840" cy="984431"/>
          </a:xfrm>
          <a:prstGeom xmlns:a="http://schemas.openxmlformats.org/drawingml/2006/main" prst="roundRect">
            <a:avLst>
              <a:gd name="adj" fmla="val 11667"/>
            </a:avLst>
          </a:prstGeom>
          <a:solidFill xmlns:a="http://schemas.openxmlformats.org/drawingml/2006/main">
            <a:srgbClr val="131B48"/>
          </a:solidFill>
          <a:ln xmlns:a="http://schemas.openxmlformats.org/drawingml/2006/main" w="19050">
            <a:solidFill>
              <a:srgbClr val="68E2BE"/>
            </a:solidFill>
            <a:prstDash val="solid"/>
          </a:ln>
        </p:spPr>
        <p:txBody>
          <a:bodyPr xmlns:a="http://schemas.openxmlformats.org/drawingml/2006/main"/>
          <a:lstStyle xmlns:a="http://schemas.openxmlformats.org/drawingml/2006/main"/>
          <a:p xmlns:a="http://schemas.openxmlformats.org/drawingml/2006/main">
            <a:r>
              <a:rPr sz="1500">
                <a:solidFill>
                  <a:srgbClr val="C8CEE9"/>
                </a:solidFill>
                <a:latin typeface="Helvetica Neue"/>
                <a:ea typeface="Helvetica Neue"/>
                <a:cs typeface="Helvetica Neue"/>
              </a:rPr>
              <a:t>reCAPTCHA login risk assessment</a:t>
            </a:r>
          </a:p>
        </p:txBody>
      </p:sp>
      <p:sp>
        <p:nvSpPr>
          <p:cNvPr id="43" name="gemini-box">
            <a:extLst xmlns:a="http://schemas.openxmlformats.org/drawingml/2006/main">
              <a:ext uri="{FF2B5EF4-FFF2-40B4-BE49-F238E27FC236}">
                <a16:creationId xmlns:a16="http://schemas.microsoft.com/office/drawing/2014/main" id="{FF68DB31-394F-3857-3AD2-F9DE53B89BEB}"/>
              </a:ext>
            </a:extLst>
          </p:cNvPr>
          <p:cNvSpPr>
            <a:spLocks xmlns:a="http://schemas.openxmlformats.org/drawingml/2006/main" noGrp="1"/>
          </p:cNvSpPr>
          <p:nvPr/>
        </p:nvSpPr>
        <p:spPr>
          <a:xfrm xmlns:a="http://schemas.openxmlformats.org/drawingml/2006/main">
            <a:off x="6793190" y="1983582"/>
            <a:ext cx="1796550" cy="956098"/>
          </a:xfrm>
          <a:prstGeom xmlns:a="http://schemas.openxmlformats.org/drawingml/2006/main" prst="roundRect">
            <a:avLst>
              <a:gd name="adj" fmla="val 11667"/>
            </a:avLst>
          </a:prstGeom>
          <a:solidFill xmlns:a="http://schemas.openxmlformats.org/drawingml/2006/main">
            <a:srgbClr val="131B48"/>
          </a:solidFill>
          <a:ln xmlns:a="http://schemas.openxmlformats.org/drawingml/2006/main" w="19050">
            <a:solidFill>
              <a:srgbClr val="68E2BE"/>
            </a:solidFill>
            <a:prstDash val="solid"/>
          </a:ln>
        </p:spPr>
        <p:txBody>
          <a:bodyPr xmlns:a="http://schemas.openxmlformats.org/drawingml/2006/main"/>
          <a:lstStyle xmlns:a="http://schemas.openxmlformats.org/drawingml/2006/main"/>
          <a:p xmlns:a="http://schemas.openxmlformats.org/drawingml/2006/main">
            <a:r>
              <a:rPr sz="1500">
                <a:solidFill>
                  <a:srgbClr val="C8CEE9"/>
                </a:solidFill>
                <a:latin typeface="Helvetica Neue"/>
                <a:ea typeface="Helvetica Neue"/>
                <a:cs typeface="Helvetica Neue"/>
              </a:rPr>
              <a:t>Secret Manager</a:t>
            </a:r>
          </a:p>
          <a:p xmlns:a="http://schemas.openxmlformats.org/drawingml/2006/main">
            <a:r>
              <a:rPr sz="1500">
                <a:solidFill>
                  <a:srgbClr val="C8CEE9"/>
                </a:solidFill>
                <a:latin typeface="Helvetica Neue"/>
                <a:ea typeface="Helvetica Neue"/>
                <a:cs typeface="Helvetica Neue"/>
              </a:rPr>
              <a:t>Admin hash + service secrets</a:t>
            </a:r>
          </a:p>
        </p:txBody>
      </p:sp>
      <p:sp>
        <p:nvSpPr>
          <p:cNvPr id="44" name="gemini-box">
            <a:extLst xmlns:a="http://schemas.openxmlformats.org/drawingml/2006/main">
              <a:ext uri="{FF2B5EF4-FFF2-40B4-BE49-F238E27FC236}">
                <a16:creationId xmlns:a16="http://schemas.microsoft.com/office/drawing/2014/main" id="{047DFCBC-698E-AB53-A4E4-575322CDF1B1}"/>
              </a:ext>
            </a:extLst>
          </p:cNvPr>
          <p:cNvSpPr>
            <a:spLocks xmlns:a="http://schemas.openxmlformats.org/drawingml/2006/main" noGrp="1"/>
          </p:cNvSpPr>
          <p:nvPr/>
        </p:nvSpPr>
        <p:spPr>
          <a:xfrm xmlns:a="http://schemas.openxmlformats.org/drawingml/2006/main">
            <a:off x="8955610" y="1980283"/>
            <a:ext cx="1565033" cy="970716"/>
          </a:xfrm>
          <a:prstGeom xmlns:a="http://schemas.openxmlformats.org/drawingml/2006/main" prst="roundRect">
            <a:avLst>
              <a:gd name="adj" fmla="val 11667"/>
            </a:avLst>
          </a:prstGeom>
          <a:solidFill xmlns:a="http://schemas.openxmlformats.org/drawingml/2006/main">
            <a:srgbClr val="131B48"/>
          </a:solidFill>
          <a:ln xmlns:a="http://schemas.openxmlformats.org/drawingml/2006/main" w="19050">
            <a:solidFill>
              <a:srgbClr val="68E2BE"/>
            </a:solidFill>
            <a:prstDash val="solid"/>
          </a:ln>
        </p:spPr>
        <p:txBody>
          <a:bodyPr xmlns:a="http://schemas.openxmlformats.org/drawingml/2006/main"/>
          <a:lstStyle xmlns:a="http://schemas.openxmlformats.org/drawingml/2006/main"/>
          <a:p xmlns:a="http://schemas.openxmlformats.org/drawingml/2006/main">
            <a:r>
              <a:rPr sz="1500">
                <a:solidFill>
                  <a:srgbClr val="C8CEE9"/>
                </a:solidFill>
                <a:latin typeface="Helvetica Neue"/>
                <a:ea typeface="Helvetica Neue"/>
                <a:cs typeface="Helvetica Neue"/>
              </a:rPr>
              <a:t>Cloud KMS Participant link encryption</a:t>
            </a:r>
          </a:p>
          <a:p xmlns:a="http://schemas.openxmlformats.org/drawingml/2006/main">
            <a:endParaRPr sz="2250">
              <a:solidFill>
                <a:schemeClr val="bg1"/>
              </a:solidFill>
            </a:endParaRPr>
          </a:p>
        </p:txBody>
      </p:sp>
      <p:sp>
        <p:nvSpPr>
          <p:cNvPr id="47" name="memory-box">
            <a:extLst xmlns:a="http://schemas.openxmlformats.org/drawingml/2006/main">
              <a:ext uri="{FF2B5EF4-FFF2-40B4-BE49-F238E27FC236}">
                <a16:creationId xmlns:a16="http://schemas.microsoft.com/office/drawing/2014/main" id="{B997548B-9EB7-4330-9BEF-1B6EDB073C49}"/>
              </a:ext>
            </a:extLst>
          </p:cNvPr>
          <p:cNvSpPr>
            <a:spLocks xmlns:a="http://schemas.openxmlformats.org/drawingml/2006/main" noGrp="1"/>
          </p:cNvSpPr>
          <p:nvPr/>
        </p:nvSpPr>
        <p:spPr>
          <a:xfrm xmlns:a="http://schemas.openxmlformats.org/drawingml/2006/main">
            <a:off x="2894129" y="4060368"/>
            <a:ext cx="1666875" cy="1014336"/>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CFF"/>
            </a:solidFill>
            <a:prstDash val="solid"/>
          </a:ln>
        </p:spPr>
        <p:txBody>
          <a:bodyPr xmlns:a="http://schemas.openxmlformats.org/drawingml/2006/main"/>
          <a:lstStyle xmlns:a="http://schemas.openxmlformats.org/drawingml/2006/main"/>
          <a:p xmlns:a="http://schemas.openxmlformats.org/drawingml/2006/main">
            <a:r>
              <a:rPr sz="1500">
                <a:solidFill>
                  <a:schemeClr val="bg1"/>
                </a:solidFill>
              </a:rPr>
              <a:t>Gemini Live 2.5 Flash native audio</a:t>
            </a:r>
          </a:p>
        </p:txBody>
      </p:sp>
      <p:sp>
        <p:nvSpPr>
          <p:cNvPr id="51" name="memory-box">
            <a:extLst xmlns:a="http://schemas.openxmlformats.org/drawingml/2006/main">
              <a:ext uri="{FF2B5EF4-FFF2-40B4-BE49-F238E27FC236}">
                <a16:creationId xmlns:a16="http://schemas.microsoft.com/office/drawing/2014/main" id="{6E0837B5-CC6C-7C43-9134-17B67A94589D}"/>
              </a:ext>
            </a:extLst>
          </p:cNvPr>
          <p:cNvSpPr>
            <a:spLocks xmlns:a="http://schemas.openxmlformats.org/drawingml/2006/main" noGrp="1"/>
          </p:cNvSpPr>
          <p:nvPr/>
        </p:nvSpPr>
        <p:spPr>
          <a:xfrm xmlns:a="http://schemas.openxmlformats.org/drawingml/2006/main">
            <a:off x="4766632" y="4065763"/>
            <a:ext cx="1508879" cy="1014336"/>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CFF"/>
            </a:solidFill>
            <a:prstDash val="solid"/>
          </a:ln>
        </p:spPr>
        <p:txBody>
          <a:bodyPr xmlns:a="http://schemas.openxmlformats.org/drawingml/2006/main"/>
          <a:lstStyle xmlns:a="http://schemas.openxmlformats.org/drawingml/2006/main"/>
          <a:p xmlns:a="http://schemas.openxmlformats.org/drawingml/2006/main">
            <a:r>
              <a:rPr sz="1500">
                <a:solidFill>
                  <a:schemeClr val="bg1"/>
                </a:solidFill>
              </a:rPr>
              <a:t>Gemini embedding</a:t>
            </a:r>
          </a:p>
        </p:txBody>
      </p:sp>
      <p:sp>
        <p:nvSpPr>
          <p:cNvPr id="52" name="memory-box">
            <a:extLst xmlns:a="http://schemas.openxmlformats.org/drawingml/2006/main">
              <a:ext uri="{FF2B5EF4-FFF2-40B4-BE49-F238E27FC236}">
                <a16:creationId xmlns:a16="http://schemas.microsoft.com/office/drawing/2014/main" id="{79F63C5B-86DC-8864-E755-D8B28B054A0C}"/>
              </a:ext>
            </a:extLst>
          </p:cNvPr>
          <p:cNvSpPr>
            <a:spLocks xmlns:a="http://schemas.openxmlformats.org/drawingml/2006/main" noGrp="1"/>
          </p:cNvSpPr>
          <p:nvPr/>
        </p:nvSpPr>
        <p:spPr>
          <a:xfrm xmlns:a="http://schemas.openxmlformats.org/drawingml/2006/main">
            <a:off x="6439501" y="4076676"/>
            <a:ext cx="1666875" cy="1014336"/>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CFF"/>
            </a:solidFill>
            <a:prstDash val="solid"/>
          </a:ln>
        </p:spPr>
        <p:txBody>
          <a:bodyPr xmlns:a="http://schemas.openxmlformats.org/drawingml/2006/main"/>
          <a:lstStyle xmlns:a="http://schemas.openxmlformats.org/drawingml/2006/main"/>
          <a:p xmlns:a="http://schemas.openxmlformats.org/drawingml/2006/main">
            <a:r>
              <a:rPr sz="1500">
                <a:solidFill>
                  <a:schemeClr val="bg1"/>
                </a:solidFill>
              </a:rPr>
              <a:t>Gemini 3.7 Flash recaps + evaluation</a:t>
            </a:r>
          </a:p>
        </p:txBody>
      </p:sp>
      <p:sp>
        <p:nvSpPr>
          <p:cNvPr id="53" name="memory-box">
            <a:extLst xmlns:a="http://schemas.openxmlformats.org/drawingml/2006/main">
              <a:ext uri="{FF2B5EF4-FFF2-40B4-BE49-F238E27FC236}">
                <a16:creationId xmlns:a16="http://schemas.microsoft.com/office/drawing/2014/main" id="{078971F2-32EB-2A5D-38E6-570EBD331073}"/>
              </a:ext>
            </a:extLst>
          </p:cNvPr>
          <p:cNvSpPr>
            <a:spLocks xmlns:a="http://schemas.openxmlformats.org/drawingml/2006/main" noGrp="1"/>
          </p:cNvSpPr>
          <p:nvPr/>
        </p:nvSpPr>
        <p:spPr>
          <a:xfrm xmlns:a="http://schemas.openxmlformats.org/drawingml/2006/main">
            <a:off x="8287820" y="4028541"/>
            <a:ext cx="1666875" cy="1014336"/>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CFF"/>
            </a:solidFill>
            <a:prstDash val="solid"/>
          </a:ln>
        </p:spPr>
        <p:txBody>
          <a:bodyPr xmlns:a="http://schemas.openxmlformats.org/drawingml/2006/main"/>
          <a:lstStyle xmlns:a="http://schemas.openxmlformats.org/drawingml/2006/main"/>
          <a:p xmlns:a="http://schemas.openxmlformats.org/drawingml/2006/main">
            <a:r>
              <a:rPr sz="1500">
                <a:solidFill>
                  <a:schemeClr val="bg1"/>
                </a:solidFill>
              </a:rPr>
              <a:t>Agent Engine Memory Bank cross-meeting commitments</a:t>
            </a:r>
          </a:p>
        </p:txBody>
      </p:sp>
      <p:sp>
        <p:nvSpPr>
          <p:cNvPr id="54" name="post-box">
            <a:extLst xmlns:a="http://schemas.openxmlformats.org/drawingml/2006/main">
              <a:ext uri="{FF2B5EF4-FFF2-40B4-BE49-F238E27FC236}">
                <a16:creationId xmlns:a16="http://schemas.microsoft.com/office/drawing/2014/main" id="{33ED6FE7-B091-D9EF-1311-1EE9D6224251}"/>
              </a:ext>
            </a:extLst>
          </p:cNvPr>
          <p:cNvSpPr>
            <a:spLocks xmlns:a="http://schemas.openxmlformats.org/drawingml/2006/main" noGrp="1"/>
          </p:cNvSpPr>
          <p:nvPr/>
        </p:nvSpPr>
        <p:spPr>
          <a:xfrm xmlns:a="http://schemas.openxmlformats.org/drawingml/2006/main">
            <a:off x="4822702" y="6173172"/>
            <a:ext cx="5321454" cy="1514086"/>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pPr algn="ctr">
              <a:buNone/>
            </a:pPr>
            <a:r>
              <a:rPr sz="1500">
                <a:solidFill>
                  <a:schemeClr val="bg1"/>
                </a:solidFill>
              </a:rPr>
              <a:t>GKE Standard – 1 media &amp; 2 worker nodes</a:t>
            </a:r>
          </a:p>
        </p:txBody>
      </p:sp>
      <p:sp>
        <p:nvSpPr>
          <p:cNvPr id="55" name="post-box">
            <a:extLst xmlns:a="http://schemas.openxmlformats.org/drawingml/2006/main">
              <a:ext uri="{FF2B5EF4-FFF2-40B4-BE49-F238E27FC236}">
                <a16:creationId xmlns:a16="http://schemas.microsoft.com/office/drawing/2014/main" id="{3EE37B05-1E69-CAB2-B4D1-C806BA3F407F}"/>
              </a:ext>
            </a:extLst>
          </p:cNvPr>
          <p:cNvSpPr>
            <a:spLocks xmlns:a="http://schemas.openxmlformats.org/drawingml/2006/main" noGrp="1"/>
          </p:cNvSpPr>
          <p:nvPr/>
        </p:nvSpPr>
        <p:spPr>
          <a:xfrm xmlns:a="http://schemas.openxmlformats.org/drawingml/2006/main">
            <a:off x="5095665" y="6579444"/>
            <a:ext cx="1462215" cy="905729"/>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LiveKit</a:t>
            </a:r>
            <a:r>
              <a:rPr sz="1250">
                <a:solidFill>
                  <a:schemeClr val="bg1"/>
                </a:solidFill>
              </a:rPr>
              <a:t>  WebRTC media server</a:t>
            </a:r>
          </a:p>
          <a:p xmlns:a="http://schemas.openxmlformats.org/drawingml/2006/main">
            <a:r>
              <a:rPr sz="1250">
                <a:solidFill>
                  <a:schemeClr val="bg1"/>
                </a:solidFill>
              </a:rPr>
              <a:t>1-3 pods </a:t>
            </a:r>
          </a:p>
        </p:txBody>
      </p:sp>
      <p:sp>
        <p:nvSpPr>
          <p:cNvPr id="56" name="post-box">
            <a:extLst xmlns:a="http://schemas.openxmlformats.org/drawingml/2006/main">
              <a:ext uri="{FF2B5EF4-FFF2-40B4-BE49-F238E27FC236}">
                <a16:creationId xmlns:a16="http://schemas.microsoft.com/office/drawing/2014/main" id="{0D69E29B-51A8-9D5D-53AF-9CBEC0E71F4F}"/>
              </a:ext>
            </a:extLst>
          </p:cNvPr>
          <p:cNvSpPr>
            <a:spLocks xmlns:a="http://schemas.openxmlformats.org/drawingml/2006/main" noGrp="1"/>
          </p:cNvSpPr>
          <p:nvPr/>
        </p:nvSpPr>
        <p:spPr>
          <a:xfrm xmlns:a="http://schemas.openxmlformats.org/drawingml/2006/main">
            <a:off x="6813141" y="6608589"/>
            <a:ext cx="1462215" cy="905729"/>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Google ADK voice workers – audio bridge </a:t>
            </a:r>
          </a:p>
          <a:p xmlns:a="http://schemas.openxmlformats.org/drawingml/2006/main">
            <a:r>
              <a:rPr sz="1250">
                <a:solidFill>
                  <a:schemeClr val="bg1"/>
                </a:solidFill>
              </a:rPr>
              <a:t>2-6 pods</a:t>
            </a:r>
          </a:p>
        </p:txBody>
      </p:sp>
      <p:sp>
        <p:nvSpPr>
          <p:cNvPr id="57" name="post-box">
            <a:extLst xmlns:a="http://schemas.openxmlformats.org/drawingml/2006/main">
              <a:ext uri="{FF2B5EF4-FFF2-40B4-BE49-F238E27FC236}">
                <a16:creationId xmlns:a16="http://schemas.microsoft.com/office/drawing/2014/main" id="{D9B7E363-AA9C-54DB-B547-65338324D5E2}"/>
              </a:ext>
            </a:extLst>
          </p:cNvPr>
          <p:cNvSpPr>
            <a:spLocks xmlns:a="http://schemas.openxmlformats.org/drawingml/2006/main" noGrp="1"/>
          </p:cNvSpPr>
          <p:nvPr/>
        </p:nvSpPr>
        <p:spPr>
          <a:xfrm xmlns:a="http://schemas.openxmlformats.org/drawingml/2006/main">
            <a:off x="8568668" y="6629887"/>
            <a:ext cx="1462215" cy="905729"/>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857C"/>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Ephemeral Redis</a:t>
            </a:r>
          </a:p>
          <a:p xmlns:a="http://schemas.openxmlformats.org/drawingml/2006/main">
            <a:r>
              <a:rPr sz="1250">
                <a:solidFill>
                  <a:schemeClr val="bg1"/>
                </a:solidFill>
              </a:rPr>
              <a:t>LiveKit routing only · 0–1 pod</a:t>
            </a:r>
          </a:p>
        </p:txBody>
      </p:sp>
      <p:sp>
        <p:nvSpPr>
          <p:cNvPr id="58" name="post-box">
            <a:extLst xmlns:a="http://schemas.openxmlformats.org/drawingml/2006/main">
              <a:ext uri="{FF2B5EF4-FFF2-40B4-BE49-F238E27FC236}">
                <a16:creationId xmlns:a16="http://schemas.microsoft.com/office/drawing/2014/main" id="{DEDA3645-18E2-8F73-1213-D2C0D8AC7147}"/>
              </a:ext>
            </a:extLst>
          </p:cNvPr>
          <p:cNvSpPr>
            <a:spLocks xmlns:a="http://schemas.openxmlformats.org/drawingml/2006/main" noGrp="1"/>
          </p:cNvSpPr>
          <p:nvPr/>
        </p:nvSpPr>
        <p:spPr>
          <a:xfrm xmlns:a="http://schemas.openxmlformats.org/drawingml/2006/main">
            <a:off x="11962554" y="1261673"/>
            <a:ext cx="1462215" cy="646069"/>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FF00"/>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Cloud Storage  doc originals</a:t>
            </a:r>
          </a:p>
        </p:txBody>
      </p:sp>
      <p:sp>
        <p:nvSpPr>
          <p:cNvPr id="59" name="post-box">
            <a:extLst xmlns:a="http://schemas.openxmlformats.org/drawingml/2006/main">
              <a:ext uri="{FF2B5EF4-FFF2-40B4-BE49-F238E27FC236}">
                <a16:creationId xmlns:a16="http://schemas.microsoft.com/office/drawing/2014/main" id="{6E4F96E9-C586-2195-33C2-C20A49FACBD4}"/>
              </a:ext>
            </a:extLst>
          </p:cNvPr>
          <p:cNvSpPr>
            <a:spLocks xmlns:a="http://schemas.openxmlformats.org/drawingml/2006/main" noGrp="1"/>
          </p:cNvSpPr>
          <p:nvPr/>
        </p:nvSpPr>
        <p:spPr>
          <a:xfrm xmlns:a="http://schemas.openxmlformats.org/drawingml/2006/main">
            <a:off x="11962553" y="2127491"/>
            <a:ext cx="1979666" cy="992695"/>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FFFF00"/>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Firestore</a:t>
            </a:r>
            <a:endParaRPr sz="1250">
              <a:solidFill>
                <a:schemeClr val="bg1"/>
              </a:solidFill>
            </a:endParaRPr>
          </a:p>
          <a:p xmlns:a="http://schemas.openxmlformats.org/drawingml/2006/main">
            <a:r>
              <a:rPr sz="1250">
                <a:solidFill>
                  <a:schemeClr val="bg1"/>
                </a:solidFill>
              </a:rPr>
              <a:t>Rooms · sessions · recaps · vectors · runtime</a:t>
            </a:r>
          </a:p>
        </p:txBody>
      </p:sp>
      <p:sp>
        <p:nvSpPr>
          <p:cNvPr id="62" name="firestore-box">
            <a:extLst xmlns:a="http://schemas.openxmlformats.org/drawingml/2006/main">
              <a:ext uri="{FF2B5EF4-FFF2-40B4-BE49-F238E27FC236}">
                <a16:creationId xmlns:a16="http://schemas.microsoft.com/office/drawing/2014/main" id="{92A3B0EA-767B-5384-82E2-240348AF2D37}"/>
              </a:ext>
            </a:extLst>
          </p:cNvPr>
          <p:cNvSpPr>
            <a:spLocks xmlns:a="http://schemas.openxmlformats.org/drawingml/2006/main" noGrp="1"/>
          </p:cNvSpPr>
          <p:nvPr/>
        </p:nvSpPr>
        <p:spPr>
          <a:xfrm xmlns:a="http://schemas.openxmlformats.org/drawingml/2006/main">
            <a:off x="11579438" y="3739252"/>
            <a:ext cx="2858889" cy="2136108"/>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00B050"/>
            </a:solidFill>
            <a:prstDash val="solid"/>
          </a:ln>
        </p:spPr>
        <p:txBody>
          <a:bodyPr xmlns:a="http://schemas.openxmlformats.org/drawingml/2006/main"/>
          <a:lstStyle xmlns:a="http://schemas.openxmlformats.org/drawingml/2006/main"/>
          <a:p xmlns:a="http://schemas.openxmlformats.org/drawingml/2006/main">
            <a:r>
              <a:rPr sz="1500">
                <a:solidFill>
                  <a:schemeClr val="bg1"/>
                </a:solidFill>
              </a:rPr>
              <a:t>Asynchronous processing</a:t>
            </a:r>
          </a:p>
        </p:txBody>
      </p:sp>
      <p:sp>
        <p:nvSpPr>
          <p:cNvPr id="63" name="post-box">
            <a:extLst xmlns:a="http://schemas.openxmlformats.org/drawingml/2006/main">
              <a:ext uri="{FF2B5EF4-FFF2-40B4-BE49-F238E27FC236}">
                <a16:creationId xmlns:a16="http://schemas.microsoft.com/office/drawing/2014/main" id="{4B9B4766-7CF5-B299-C467-243C7F811BAC}"/>
              </a:ext>
            </a:extLst>
          </p:cNvPr>
          <p:cNvSpPr>
            <a:spLocks xmlns:a="http://schemas.openxmlformats.org/drawingml/2006/main" noGrp="1"/>
          </p:cNvSpPr>
          <p:nvPr/>
        </p:nvSpPr>
        <p:spPr>
          <a:xfrm xmlns:a="http://schemas.openxmlformats.org/drawingml/2006/main">
            <a:off x="11967011" y="4238711"/>
            <a:ext cx="2171631" cy="614735"/>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00B050"/>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Pub/Sub events + dead-letter topics</a:t>
            </a:r>
          </a:p>
        </p:txBody>
      </p:sp>
      <p:sp>
        <p:nvSpPr>
          <p:cNvPr id="64" name="post-box">
            <a:extLst xmlns:a="http://schemas.openxmlformats.org/drawingml/2006/main">
              <a:ext uri="{FF2B5EF4-FFF2-40B4-BE49-F238E27FC236}">
                <a16:creationId xmlns:a16="http://schemas.microsoft.com/office/drawing/2014/main" id="{179403FD-8B2C-B01A-31B0-B874B4849748}"/>
              </a:ext>
            </a:extLst>
          </p:cNvPr>
          <p:cNvSpPr>
            <a:spLocks xmlns:a="http://schemas.openxmlformats.org/drawingml/2006/main" noGrp="1"/>
          </p:cNvSpPr>
          <p:nvPr/>
        </p:nvSpPr>
        <p:spPr>
          <a:xfrm xmlns:a="http://schemas.openxmlformats.org/drawingml/2006/main">
            <a:off x="11983105" y="4963321"/>
            <a:ext cx="2009423" cy="770515"/>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00B050"/>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CloudRun</a:t>
            </a:r>
            <a:r>
              <a:rPr sz="1250">
                <a:solidFill>
                  <a:schemeClr val="bg1"/>
                </a:solidFill>
              </a:rPr>
              <a:t> async- doc indexing post-meeting processing</a:t>
            </a:r>
          </a:p>
        </p:txBody>
      </p:sp>
      <p:sp>
        <p:nvSpPr>
          <p:cNvPr id="65" name="firestore-box">
            <a:extLst xmlns:a="http://schemas.openxmlformats.org/drawingml/2006/main">
              <a:ext uri="{FF2B5EF4-FFF2-40B4-BE49-F238E27FC236}">
                <a16:creationId xmlns:a16="http://schemas.microsoft.com/office/drawing/2014/main" id="{D15B66F5-456F-35C2-FEA3-A7DB9F3C242E}"/>
              </a:ext>
            </a:extLst>
          </p:cNvPr>
          <p:cNvSpPr>
            <a:spLocks xmlns:a="http://schemas.openxmlformats.org/drawingml/2006/main" noGrp="1"/>
          </p:cNvSpPr>
          <p:nvPr/>
        </p:nvSpPr>
        <p:spPr>
          <a:xfrm xmlns:a="http://schemas.openxmlformats.org/drawingml/2006/main">
            <a:off x="10743815" y="6318648"/>
            <a:ext cx="2687801" cy="1984359"/>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DFF"/>
            </a:solidFill>
            <a:prstDash val="solid"/>
          </a:ln>
        </p:spPr>
        <p:txBody>
          <a:bodyPr xmlns:a="http://schemas.openxmlformats.org/drawingml/2006/main"/>
          <a:lstStyle xmlns:a="http://schemas.openxmlformats.org/drawingml/2006/main"/>
          <a:p xmlns:a="http://schemas.openxmlformats.org/drawingml/2006/main">
            <a:pPr algn="ctr">
              <a:buNone/>
            </a:pPr>
            <a:r>
              <a:rPr sz="1500">
                <a:solidFill>
                  <a:schemeClr val="bg1"/>
                </a:solidFill>
              </a:rPr>
              <a:t>Operations + Cost</a:t>
            </a:r>
          </a:p>
        </p:txBody>
      </p:sp>
      <p:sp>
        <p:nvSpPr>
          <p:cNvPr id="66" name="post-box">
            <a:extLst xmlns:a="http://schemas.openxmlformats.org/drawingml/2006/main">
              <a:ext uri="{FF2B5EF4-FFF2-40B4-BE49-F238E27FC236}">
                <a16:creationId xmlns:a16="http://schemas.microsoft.com/office/drawing/2014/main" id="{D038211D-B401-B459-B378-12D658457BE0}"/>
              </a:ext>
            </a:extLst>
          </p:cNvPr>
          <p:cNvSpPr>
            <a:spLocks xmlns:a="http://schemas.openxmlformats.org/drawingml/2006/main" noGrp="1"/>
          </p:cNvSpPr>
          <p:nvPr/>
        </p:nvSpPr>
        <p:spPr>
          <a:xfrm xmlns:a="http://schemas.openxmlformats.org/drawingml/2006/main">
            <a:off x="11081169" y="6774847"/>
            <a:ext cx="1992359" cy="684936"/>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DFF"/>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Cloud Scheduler
Idle + retention</a:t>
            </a:r>
          </a:p>
        </p:txBody>
      </p:sp>
      <p:sp>
        <p:nvSpPr>
          <p:cNvPr id="67" name="post-box">
            <a:extLst xmlns:a="http://schemas.openxmlformats.org/drawingml/2006/main">
              <a:ext uri="{FF2B5EF4-FFF2-40B4-BE49-F238E27FC236}">
                <a16:creationId xmlns:a16="http://schemas.microsoft.com/office/drawing/2014/main" id="{ED897B12-F542-A124-099C-487E937BE668}"/>
              </a:ext>
            </a:extLst>
          </p:cNvPr>
          <p:cNvSpPr>
            <a:spLocks xmlns:a="http://schemas.openxmlformats.org/drawingml/2006/main" noGrp="1"/>
          </p:cNvSpPr>
          <p:nvPr/>
        </p:nvSpPr>
        <p:spPr>
          <a:xfrm xmlns:a="http://schemas.openxmlformats.org/drawingml/2006/main">
            <a:off x="11105510" y="7572023"/>
            <a:ext cx="1569963" cy="601934"/>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DFF"/>
            </a:solidFill>
            <a:prstDash val="solid"/>
          </a:ln>
        </p:spPr>
        <p:txBody>
          <a:bodyPr xmlns:a="http://schemas.openxmlformats.org/drawingml/2006/main"/>
          <a:lstStyle xmlns:a="http://schemas.openxmlformats.org/drawingml/2006/main"/>
          <a:p xmlns:a="http://schemas.openxmlformats.org/drawingml/2006/main">
            <a:r>
              <a:rPr sz="1250">
                <a:solidFill>
                  <a:schemeClr val="bg1"/>
                </a:solidFill>
              </a:rPr>
              <a:t>Cloud Run Jobs</a:t>
            </a:r>
          </a:p>
          <a:p xmlns:a="http://schemas.openxmlformats.org/drawingml/2006/main">
            <a:r>
              <a:rPr sz="1250">
                <a:solidFill>
                  <a:schemeClr val="bg1"/>
                </a:solidFill>
              </a:rPr>
              <a:t>Wake + suspend</a:t>
            </a:r>
          </a:p>
        </p:txBody>
      </p:sp>
      <p:sp>
        <p:nvSpPr>
          <p:cNvPr id="68" name="post-box">
            <a:extLst xmlns:a="http://schemas.openxmlformats.org/drawingml/2006/main">
              <a:ext uri="{FF2B5EF4-FFF2-40B4-BE49-F238E27FC236}">
                <a16:creationId xmlns:a16="http://schemas.microsoft.com/office/drawing/2014/main" id="{86487B91-9E4D-8176-8201-65F30C540E32}"/>
              </a:ext>
            </a:extLst>
          </p:cNvPr>
          <p:cNvSpPr>
            <a:spLocks xmlns:a="http://schemas.openxmlformats.org/drawingml/2006/main" noGrp="1"/>
          </p:cNvSpPr>
          <p:nvPr/>
        </p:nvSpPr>
        <p:spPr>
          <a:xfrm xmlns:a="http://schemas.openxmlformats.org/drawingml/2006/main">
            <a:off x="13723159" y="6427766"/>
            <a:ext cx="1340184" cy="1746190"/>
          </a:xfrm>
          <a:prstGeom xmlns:a="http://schemas.openxmlformats.org/drawingml/2006/main" prst="roundRect">
            <a:avLst>
              <a:gd name="adj" fmla="val 13462"/>
            </a:avLst>
          </a:prstGeom>
          <a:solidFill xmlns:a="http://schemas.openxmlformats.org/drawingml/2006/main">
            <a:srgbClr val="111735"/>
          </a:solidFill>
          <a:ln xmlns:a="http://schemas.openxmlformats.org/drawingml/2006/main" w="19050">
            <a:solidFill>
              <a:srgbClr val="8A7DFF"/>
            </a:solidFill>
            <a:prstDash val="solid"/>
          </a:ln>
        </p:spPr>
        <p:txBody>
          <a:bodyPr xmlns:a="http://schemas.openxmlformats.org/drawingml/2006/main"/>
          <a:lstStyle xmlns:a="http://schemas.openxmlformats.org/drawingml/2006/main"/>
          <a:p xmlns:a="http://schemas.openxmlformats.org/drawingml/2006/main">
            <a:pPr>
              <a:defRPr sz="1200">
                <a:solidFill>
                  <a:srgbClr val="FFFFFF"/>
                </a:solidFill>
              </a:defRPr>
            </a:pPr>
            <a:r>
              <a:rPr sz="1200">
                <a:solidFill>
                  <a:srgbClr val="FFFFFF"/>
                </a:solidFill>
              </a:rPr>
              <a:t>Lyria 3 Pro</a:t>
            </a:r>
          </a:p>
          <a:p xmlns:a="http://schemas.openxmlformats.org/drawingml/2006/main">
            <a:pPr>
              <a:defRPr sz="1200">
                <a:solidFill>
                  <a:srgbClr val="FFFFFF"/>
                </a:solidFill>
              </a:defRPr>
            </a:pPr>
            <a:r>
              <a:rPr sz="1200">
                <a:solidFill>
                  <a:srgbClr val="FFFFFF"/>
                </a:solidFill>
              </a:rPr>
              <a:t>Static MP3</a:t>
            </a:r>
            <a:endParaRPr sz="1250">
              <a:solidFill>
                <a:schemeClr val="bg1"/>
              </a:solidFill>
            </a:endParaRPr>
          </a:p>
          <a:p xmlns:a="http://schemas.openxmlformats.org/drawingml/2006/main">
            <a:pPr>
              <a:defRPr sz="1200">
                <a:solidFill>
                  <a:srgbClr val="FFFFFF"/>
                </a:solidFill>
              </a:defRPr>
            </a:pPr>
            <a:r>
              <a:rPr sz="1200">
                <a:solidFill>
                  <a:srgbClr val="FFFFFF"/>
                </a:solidFill>
              </a:rPr>
              <a:t>$0.08 once</a:t>
            </a:r>
          </a:p>
          <a:p xmlns:a="http://schemas.openxmlformats.org/drawingml/2006/main">
            <a:pPr>
              <a:defRPr sz="1200">
                <a:solidFill>
                  <a:srgbClr val="FFFFFF"/>
                </a:solidFill>
              </a:defRPr>
            </a:pPr>
            <a:r>
              <a:rPr sz="1200">
                <a:solidFill>
                  <a:srgbClr val="FFFFFF"/>
                </a:solidFill>
              </a:rPr>
              <a:t>0 runtime calls</a:t>
            </a:r>
          </a:p>
        </p:txBody>
      </p:sp>
      <p:sp>
        <p:nvSpPr>
          <p:cNvPr id="70" name="Straight Connector 69">
            <a:extLst xmlns:a="http://schemas.openxmlformats.org/drawingml/2006/main">
              <a:ext uri="{FF2B5EF4-FFF2-40B4-BE49-F238E27FC236}">
                <a16:creationId xmlns:a16="http://schemas.microsoft.com/office/drawing/2014/main" id="{607D9485-08D3-45AA-8F32-E8817A37924C}"/>
              </a:ext>
            </a:extLst>
          </p:cNvPr>
          <p:cNvSpPr>
            <a:spLocks xmlns:a="http://schemas.openxmlformats.org/drawingml/2006/main" noGrp="1"/>
          </p:cNvSpPr>
          <p:nvPr/>
        </p:nvSpPr>
        <p:spPr>
          <a:xfrm xmlns:a="http://schemas.openxmlformats.org/drawingml/2006/main">
            <a:off x="2190750" y="1119188"/>
            <a:ext cx="0" cy="6988969"/>
          </a:xfrm>
          <a:prstGeom xmlns:a="http://schemas.openxmlformats.org/drawingml/2006/main" prst="line">
            <a:avLst/>
          </a:prstGeom>
          <a:ln xmlns:a="http://schemas.openxmlformats.org/drawingml/2006/main" w="28575">
            <a:solidFill>
              <a:schemeClr val="bg1"/>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1" name="TextBox 70">
            <a:extLst xmlns:a="http://schemas.openxmlformats.org/drawingml/2006/main">
              <a:ext uri="{FF2B5EF4-FFF2-40B4-BE49-F238E27FC236}">
                <a16:creationId xmlns:a16="http://schemas.microsoft.com/office/drawing/2014/main" id="{3EFB4878-CE12-EB91-072E-E0DFC76E990F}"/>
              </a:ext>
            </a:extLst>
          </p:cNvPr>
          <p:cNvSpPr>
            <a:spLocks xmlns:a="http://schemas.openxmlformats.org/drawingml/2006/main" noGrp="1"/>
          </p:cNvSpPr>
          <p:nvPr/>
        </p:nvSpPr>
        <p:spPr>
          <a:xfrm xmlns:a="http://schemas.openxmlformats.org/drawingml/2006/main">
            <a:off x="4961446" y="250797"/>
            <a:ext cx="2440412" cy="63094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500">
                <a:solidFill>
                  <a:schemeClr val="bg1"/>
                </a:solidFill>
              </a:rPr>
              <a:t>Architecture</a:t>
            </a:r>
          </a:p>
        </p:txBody>
      </p:sp>
      <p:sp>
        <p:nvSpPr>
          <p:cNvPr id="73" name="Left-right Arrow 72">
            <a:extLst xmlns:a="http://schemas.openxmlformats.org/drawingml/2006/main">
              <a:ext uri="{FF2B5EF4-FFF2-40B4-BE49-F238E27FC236}">
                <a16:creationId xmlns:a16="http://schemas.microsoft.com/office/drawing/2014/main" id="{D9B40A5E-AA41-1B1F-6A42-B7F55059CCE9}"/>
              </a:ext>
            </a:extLst>
          </p:cNvPr>
          <p:cNvSpPr>
            <a:spLocks xmlns:a="http://schemas.openxmlformats.org/drawingml/2006/main" noGrp="1"/>
          </p:cNvSpPr>
          <p:nvPr/>
        </p:nvSpPr>
        <p:spPr>
          <a:xfrm xmlns:a="http://schemas.openxmlformats.org/drawingml/2006/main" rot="16200000">
            <a:off x="6439501" y="3236371"/>
            <a:ext cx="373640" cy="219781"/>
          </a:xfrm>
          <a:prstGeom xmlns:a="http://schemas.openxmlformats.org/drawingml/2006/main" prst="leftRightArrow">
            <a:avLst/>
          </a:prstGeom>
          <a:solidFill xmlns:a="http://schemas.openxmlformats.org/drawingml/2006/main">
            <a:schemeClr val="bg2"/>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250"/>
          </a:p>
        </p:txBody>
      </p:sp>
      <p:sp>
        <p:nvSpPr>
          <p:cNvPr id="74" name="Left-right Arrow 73">
            <a:extLst xmlns:a="http://schemas.openxmlformats.org/drawingml/2006/main">
              <a:ext uri="{FF2B5EF4-FFF2-40B4-BE49-F238E27FC236}">
                <a16:creationId xmlns:a16="http://schemas.microsoft.com/office/drawing/2014/main" id="{D886B982-2A1D-42CC-0B20-E551C082344E}"/>
              </a:ext>
            </a:extLst>
          </p:cNvPr>
          <p:cNvSpPr>
            <a:spLocks xmlns:a="http://schemas.openxmlformats.org/drawingml/2006/main" noGrp="1"/>
          </p:cNvSpPr>
          <p:nvPr/>
        </p:nvSpPr>
        <p:spPr>
          <a:xfrm xmlns:a="http://schemas.openxmlformats.org/drawingml/2006/main" rot="16200000">
            <a:off x="6418640" y="5285096"/>
            <a:ext cx="433493" cy="282374"/>
          </a:xfrm>
          <a:prstGeom xmlns:a="http://schemas.openxmlformats.org/drawingml/2006/main" prst="leftRightArrow">
            <a:avLst/>
          </a:prstGeom>
          <a:solidFill xmlns:a="http://schemas.openxmlformats.org/drawingml/2006/main">
            <a:schemeClr val="bg2"/>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250"/>
          </a:p>
        </p:txBody>
      </p:sp>
      <p:sp>
        <p:nvSpPr>
          <p:cNvPr id="75" name="Left-right Arrow 74">
            <a:extLst xmlns:a="http://schemas.openxmlformats.org/drawingml/2006/main">
              <a:ext uri="{FF2B5EF4-FFF2-40B4-BE49-F238E27FC236}">
                <a16:creationId xmlns:a16="http://schemas.microsoft.com/office/drawing/2014/main" id="{9DCF337F-894D-2B6B-2EAB-5EC2B422AF81}"/>
              </a:ext>
            </a:extLst>
          </p:cNvPr>
          <p:cNvSpPr>
            <a:spLocks xmlns:a="http://schemas.openxmlformats.org/drawingml/2006/main" noGrp="1"/>
          </p:cNvSpPr>
          <p:nvPr/>
        </p:nvSpPr>
        <p:spPr>
          <a:xfrm xmlns:a="http://schemas.openxmlformats.org/drawingml/2006/main" rot="16200000">
            <a:off x="12792135" y="3381321"/>
            <a:ext cx="433493" cy="282374"/>
          </a:xfrm>
          <a:prstGeom xmlns:a="http://schemas.openxmlformats.org/drawingml/2006/main" prst="leftRightArrow">
            <a:avLst/>
          </a:prstGeom>
          <a:solidFill xmlns:a="http://schemas.openxmlformats.org/drawingml/2006/main">
            <a:schemeClr val="bg2"/>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250"/>
          </a:p>
        </p:txBody>
      </p:sp>
      <p:sp>
        <p:nvSpPr>
          <p:cNvPr id="76" name="Left-right Arrow 75">
            <a:extLst xmlns:a="http://schemas.openxmlformats.org/drawingml/2006/main">
              <a:ext uri="{FF2B5EF4-FFF2-40B4-BE49-F238E27FC236}">
                <a16:creationId xmlns:a16="http://schemas.microsoft.com/office/drawing/2014/main" id="{0C0BC75C-3F3F-DD5A-E778-6B6C9CF75F5A}"/>
              </a:ext>
            </a:extLst>
          </p:cNvPr>
          <p:cNvSpPr>
            <a:spLocks xmlns:a="http://schemas.openxmlformats.org/drawingml/2006/main" noGrp="1"/>
          </p:cNvSpPr>
          <p:nvPr/>
        </p:nvSpPr>
        <p:spPr>
          <a:xfrm xmlns:a="http://schemas.openxmlformats.org/drawingml/2006/main">
            <a:off x="10743813" y="2253853"/>
            <a:ext cx="880701" cy="321400"/>
          </a:xfrm>
          <a:prstGeom xmlns:a="http://schemas.openxmlformats.org/drawingml/2006/main" prst="leftRightArrow">
            <a:avLst/>
          </a:prstGeom>
          <a:solidFill xmlns:a="http://schemas.openxmlformats.org/drawingml/2006/main">
            <a:schemeClr val="bg2"/>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250"/>
          </a:p>
        </p:txBody>
      </p:sp>
      <p:sp>
        <p:nvSpPr>
          <p:cNvPr id="77" name="Left-right Arrow 76">
            <a:extLst xmlns:a="http://schemas.openxmlformats.org/drawingml/2006/main">
              <a:ext uri="{FF2B5EF4-FFF2-40B4-BE49-F238E27FC236}">
                <a16:creationId xmlns:a16="http://schemas.microsoft.com/office/drawing/2014/main" id="{A385859E-A2AC-55E0-2EA2-326290317C7F}"/>
              </a:ext>
            </a:extLst>
          </p:cNvPr>
          <p:cNvSpPr>
            <a:spLocks xmlns:a="http://schemas.openxmlformats.org/drawingml/2006/main" noGrp="1"/>
          </p:cNvSpPr>
          <p:nvPr/>
        </p:nvSpPr>
        <p:spPr>
          <a:xfrm xmlns:a="http://schemas.openxmlformats.org/drawingml/2006/main" rot="19344313">
            <a:off x="10295748" y="5326875"/>
            <a:ext cx="1448206" cy="244338"/>
          </a:xfrm>
          <a:prstGeom xmlns:a="http://schemas.openxmlformats.org/drawingml/2006/main" prst="leftRightArrow">
            <a:avLst/>
          </a:prstGeom>
          <a:solidFill xmlns:a="http://schemas.openxmlformats.org/drawingml/2006/main">
            <a:schemeClr val="bg2"/>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250"/>
          </a:p>
        </p:txBody>
      </p:sp>
      <p:sp>
        <p:nvSpPr>
          <p:cNvPr id="78" name="Left-right Arrow 77">
            <a:extLst xmlns:a="http://schemas.openxmlformats.org/drawingml/2006/main">
              <a:ext uri="{FF2B5EF4-FFF2-40B4-BE49-F238E27FC236}">
                <a16:creationId xmlns:a16="http://schemas.microsoft.com/office/drawing/2014/main" id="{B7E50B49-466D-0BC2-E5F6-BF6B786633A3}"/>
              </a:ext>
            </a:extLst>
          </p:cNvPr>
          <p:cNvSpPr>
            <a:spLocks xmlns:a="http://schemas.openxmlformats.org/drawingml/2006/main" noGrp="1"/>
          </p:cNvSpPr>
          <p:nvPr/>
        </p:nvSpPr>
        <p:spPr>
          <a:xfrm xmlns:a="http://schemas.openxmlformats.org/drawingml/2006/main">
            <a:off x="10417119" y="6825406"/>
            <a:ext cx="370619" cy="187375"/>
          </a:xfrm>
          <a:prstGeom xmlns:a="http://schemas.openxmlformats.org/drawingml/2006/main" prst="leftRightArrow">
            <a:avLst/>
          </a:prstGeom>
          <a:solidFill xmlns:a="http://schemas.openxmlformats.org/drawingml/2006/main">
            <a:schemeClr val="bg2"/>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250"/>
          </a:p>
        </p:txBody>
      </p:sp>
    </p:spTree>
    <p:extLst>
      <p:ext uri="{BB962C8B-B14F-4D97-AF65-F5344CB8AC3E}">
        <p14:creationId xmlns:p14="http://schemas.microsoft.com/office/powerpoint/2010/main" val="2438727718"/>
      </p:ext>
    </p:extLst>
  </p:cSld>
</p:sld>
</file>

<file path=ppt/slides/slide2.xml><?xml version="1.0" encoding="utf-8"?>
<p:sld xmlns:p="http://schemas.openxmlformats.org/presentationml/2006/main">
  <p:cSld>
    <p:bg>
      <p:bgPr>
        <a:solidFill xmlns:a="http://schemas.openxmlformats.org/drawingml/2006/main">
          <a:srgbClr val="070B24"/>
        </a:solidFill>
      </p:bgPr>
    </p:bg>
    <p:spTree>
      <p:nvGrpSpPr>
        <p:cNvPr id="1" name=""/>
        <p:cNvGrpSpPr/>
        <p:nvPr/>
      </p:nvGrpSpPr>
      <p:grpSpPr>
        <a:xfrm xmlns:a="http://schemas.openxmlformats.org/drawingml/2006/main"/>
      </p:grpSpPr>
      <p:sp>
        <p:nvSpPr>
          <p:cNvPr id="48" name="accent-1">
            <a:extLst xmlns:a="http://schemas.openxmlformats.org/drawingml/2006/main">
              <a:ext uri="{FF2B5EF4-FFF2-40B4-BE49-F238E27FC236}">
                <a16:creationId xmlns:a16="http://schemas.microsoft.com/office/drawing/2014/main" id="{076CDE1A-3108-4969-91A6-451222EB3E6B}"/>
              </a:ext>
            </a:extLst>
          </p:cNvPr>
          <p:cNvSpPr>
            <a:spLocks xmlns:a="http://schemas.openxmlformats.org/drawingml/2006/main" noGrp="1"/>
          </p:cNvSpPr>
          <p:nvPr/>
        </p:nvSpPr>
        <p:spPr>
          <a:xfrm xmlns:a="http://schemas.openxmlformats.org/drawingml/2006/main">
            <a:off x="457200" y="438150"/>
            <a:ext cx="685800" cy="47625"/>
          </a:xfrm>
          <a:prstGeom xmlns:a="http://schemas.openxmlformats.org/drawingml/2006/main" prst="rect">
            <a:avLst/>
          </a:prstGeom>
          <a:solidFill xmlns:a="http://schemas.openxmlformats.org/drawingml/2006/main">
            <a:srgbClr val="63E6BE"/>
          </a:solidFill>
          <a:ln xmlns:a="http://schemas.openxmlformats.org/drawingml/2006/main" w="0">
            <a:solidFill>
              <a:srgbClr val="63E6BE"/>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title-1">
            <a:extLst xmlns:a="http://schemas.openxmlformats.org/drawingml/2006/main">
              <a:ext uri="{FF2B5EF4-FFF2-40B4-BE49-F238E27FC236}">
                <a16:creationId xmlns:a16="http://schemas.microsoft.com/office/drawing/2014/main" id="{7469F065-F415-4036-ABBE-B964CF4EC643}"/>
              </a:ext>
            </a:extLst>
          </p:cNvPr>
          <p:cNvSpPr>
            <a:spLocks xmlns:a="http://schemas.openxmlformats.org/drawingml/2006/main" noGrp="1"/>
          </p:cNvSpPr>
          <p:nvPr/>
        </p:nvSpPr>
        <p:spPr>
          <a:xfrm xmlns:a="http://schemas.openxmlformats.org/drawingml/2006/main">
            <a:off x="457200" y="619125"/>
            <a:ext cx="1123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3000" b="1">
                <a:solidFill>
                  <a:srgbClr val="F8FAFC"/>
                </a:solidFill>
                <a:latin typeface="Aptos"/>
                <a:ea typeface="Aptos"/>
                <a:cs typeface="Aptos"/>
              </a:defRPr>
            </a:pPr>
            <a:r>
              <a:rPr sz="3000" b="1">
                <a:solidFill>
                  <a:srgbClr val="F8FAFC"/>
                </a:solidFill>
                <a:latin typeface="Aptos"/>
                <a:ea typeface="Aptos"/>
                <a:cs typeface="Aptos"/>
              </a:rPr>
              <a:t>Live audio bypasses the control plane</a:t>
            </a:r>
          </a:p>
        </p:txBody>
      </p:sp>
      <p:sp>
        <p:nvSpPr>
          <p:cNvPr id="3" name="subtitle-1">
            <a:extLst xmlns:a="http://schemas.openxmlformats.org/drawingml/2006/main">
              <a:ext uri="{FF2B5EF4-FFF2-40B4-BE49-F238E27FC236}">
                <a16:creationId xmlns:a16="http://schemas.microsoft.com/office/drawing/2014/main" id="{276CC2C8-C5CF-4A80-99E6-3D880AE389BD}"/>
              </a:ext>
            </a:extLst>
          </p:cNvPr>
          <p:cNvSpPr>
            <a:spLocks xmlns:a="http://schemas.openxmlformats.org/drawingml/2006/main" noGrp="1"/>
          </p:cNvSpPr>
          <p:nvPr/>
        </p:nvSpPr>
        <p:spPr>
          <a:xfrm xmlns:a="http://schemas.openxmlformats.org/drawingml/2006/main">
            <a:off x="476250" y="1162050"/>
            <a:ext cx="1238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50" b="0">
                <a:solidFill>
                  <a:srgbClr val="B9C3DD"/>
                </a:solidFill>
                <a:latin typeface="Aptos"/>
                <a:ea typeface="Aptos"/>
                <a:cs typeface="Aptos"/>
              </a:defRPr>
            </a:pPr>
            <a:r>
              <a:rPr sz="1350" b="0">
                <a:solidFill>
                  <a:srgbClr val="B9C3DD"/>
                </a:solidFill>
                <a:latin typeface="Aptos"/>
                <a:ea typeface="Aptos"/>
                <a:cs typeface="Aptos"/>
              </a:rPr>
              <a:t>Cloud Run serves static lobby music; LiveKit and ADK carry meeting audio directly to Gemini Live.</a:t>
            </a:r>
          </a:p>
        </p:txBody>
      </p:sp>
      <p:sp>
        <p:nvSpPr>
          <p:cNvPr id="4" name="brand-1">
            <a:extLst xmlns:a="http://schemas.openxmlformats.org/drawingml/2006/main">
              <a:ext uri="{FF2B5EF4-FFF2-40B4-BE49-F238E27FC236}">
                <a16:creationId xmlns:a16="http://schemas.microsoft.com/office/drawing/2014/main" id="{02A8C344-9A1E-451A-8FF5-95455C8576FF}"/>
              </a:ext>
            </a:extLst>
          </p:cNvPr>
          <p:cNvSpPr>
            <a:spLocks xmlns:a="http://schemas.openxmlformats.org/drawingml/2006/main" noGrp="1"/>
          </p:cNvSpPr>
          <p:nvPr/>
        </p:nvSpPr>
        <p:spPr>
          <a:xfrm xmlns:a="http://schemas.openxmlformats.org/drawingml/2006/main">
            <a:off x="12954000" y="7239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800" b="1">
                <a:solidFill>
                  <a:srgbClr val="63E6BE"/>
                </a:solidFill>
                <a:latin typeface="Aptos"/>
                <a:ea typeface="Aptos"/>
                <a:cs typeface="Aptos"/>
              </a:defRPr>
            </a:pPr>
            <a:r>
              <a:rPr sz="1800" b="1">
                <a:solidFill>
                  <a:srgbClr val="63E6BE"/>
                </a:solidFill>
                <a:latin typeface="Aptos"/>
                <a:ea typeface="Aptos"/>
                <a:cs typeface="Aptos"/>
              </a:rPr>
              <a:t>RoleCallAI</a:t>
            </a:r>
          </a:p>
        </p:txBody>
      </p:sp>
      <p:sp>
        <p:nvSpPr>
          <p:cNvPr id="5" name="voice-plane-boundary">
            <a:extLst xmlns:a="http://schemas.openxmlformats.org/drawingml/2006/main">
              <a:ext uri="{FF2B5EF4-FFF2-40B4-BE49-F238E27FC236}">
                <a16:creationId xmlns:a16="http://schemas.microsoft.com/office/drawing/2014/main" id="{03CA18D5-DCFA-41B8-8362-0F1741E409EE}"/>
              </a:ext>
            </a:extLst>
          </p:cNvPr>
          <p:cNvSpPr>
            <a:spLocks xmlns:a="http://schemas.openxmlformats.org/drawingml/2006/main" noGrp="1"/>
          </p:cNvSpPr>
          <p:nvPr/>
        </p:nvSpPr>
        <p:spPr>
          <a:xfrm xmlns:a="http://schemas.openxmlformats.org/drawingml/2006/main">
            <a:off x="4810125" y="1714500"/>
            <a:ext cx="9953625" cy="3476625"/>
          </a:xfrm>
          <a:prstGeom xmlns:a="http://schemas.openxmlformats.org/drawingml/2006/main" prst="roundRect">
            <a:avLst>
              <a:gd name="adj" fmla="val 4932"/>
            </a:avLst>
          </a:prstGeom>
          <a:solidFill xmlns:a="http://schemas.openxmlformats.org/drawingml/2006/main">
            <a:srgbClr val="0D1538"/>
          </a:solidFill>
          <a:ln xmlns:a="http://schemas.openxmlformats.org/drawingml/2006/main" w="19050">
            <a:solidFill>
              <a:srgbClr val="8B7C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voice-plane-title">
            <a:extLst xmlns:a="http://schemas.openxmlformats.org/drawingml/2006/main">
              <a:ext uri="{FF2B5EF4-FFF2-40B4-BE49-F238E27FC236}">
                <a16:creationId xmlns:a16="http://schemas.microsoft.com/office/drawing/2014/main" id="{E76081F4-BB1E-4FB4-8673-4D4D3810C424}"/>
              </a:ext>
            </a:extLst>
          </p:cNvPr>
          <p:cNvSpPr>
            <a:spLocks xmlns:a="http://schemas.openxmlformats.org/drawingml/2006/main" noGrp="1"/>
          </p:cNvSpPr>
          <p:nvPr/>
        </p:nvSpPr>
        <p:spPr>
          <a:xfrm xmlns:a="http://schemas.openxmlformats.org/drawingml/2006/main">
            <a:off x="5019675" y="1809750"/>
            <a:ext cx="95345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8B7CFF"/>
                </a:solidFill>
                <a:latin typeface="Aptos"/>
                <a:ea typeface="Aptos"/>
                <a:cs typeface="Aptos"/>
              </a:defRPr>
            </a:pPr>
            <a:r>
              <a:rPr sz="1275" b="1">
                <a:solidFill>
                  <a:srgbClr val="8B7CFF"/>
                </a:solidFill>
                <a:latin typeface="Aptos"/>
                <a:ea typeface="Aptos"/>
                <a:cs typeface="Aptos"/>
              </a:rPr>
              <a:t>VOICE PLANE</a:t>
            </a:r>
          </a:p>
          <a:p xmlns:a="http://schemas.openxmlformats.org/drawingml/2006/main">
            <a:pPr algn="l">
              <a:buNone/>
              <a:defRPr sz="1275" b="1">
                <a:solidFill>
                  <a:srgbClr val="8B7CFF"/>
                </a:solidFill>
                <a:latin typeface="Aptos"/>
                <a:ea typeface="Aptos"/>
                <a:cs typeface="Aptos"/>
              </a:defRPr>
            </a:pPr>
            <a:r>
              <a:rPr sz="1275" b="1">
                <a:solidFill>
                  <a:srgbClr val="8B7CFF"/>
                </a:solidFill>
                <a:latin typeface="Aptos"/>
                <a:ea typeface="Aptos"/>
                <a:cs typeface="Aptos"/>
              </a:rPr>
              <a:t>SLEEPING ⇄ READY</a:t>
            </a:r>
          </a:p>
        </p:txBody>
      </p:sp>
      <p:sp>
        <p:nvSpPr>
          <p:cNvPr id="7" name="gke-boundary">
            <a:extLst xmlns:a="http://schemas.openxmlformats.org/drawingml/2006/main">
              <a:ext uri="{FF2B5EF4-FFF2-40B4-BE49-F238E27FC236}">
                <a16:creationId xmlns:a16="http://schemas.microsoft.com/office/drawing/2014/main" id="{BCF4F0F3-C033-43CF-B48A-BB6313B3EFC3}"/>
              </a:ext>
            </a:extLst>
          </p:cNvPr>
          <p:cNvSpPr>
            <a:spLocks xmlns:a="http://schemas.openxmlformats.org/drawingml/2006/main" noGrp="1"/>
          </p:cNvSpPr>
          <p:nvPr/>
        </p:nvSpPr>
        <p:spPr>
          <a:xfrm xmlns:a="http://schemas.openxmlformats.org/drawingml/2006/main">
            <a:off x="7048500" y="1952625"/>
            <a:ext cx="4762500" cy="2905125"/>
          </a:xfrm>
          <a:prstGeom xmlns:a="http://schemas.openxmlformats.org/drawingml/2006/main" prst="roundRect">
            <a:avLst>
              <a:gd name="adj" fmla="val 5902"/>
            </a:avLst>
          </a:prstGeom>
          <a:solidFill xmlns:a="http://schemas.openxmlformats.org/drawingml/2006/main">
            <a:srgbClr val="0D1538"/>
          </a:solidFill>
          <a:ln xmlns:a="http://schemas.openxmlformats.org/drawingml/2006/main" w="19050">
            <a:solidFill>
              <a:srgbClr val="8B7C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gke-title">
            <a:extLst xmlns:a="http://schemas.openxmlformats.org/drawingml/2006/main">
              <a:ext uri="{FF2B5EF4-FFF2-40B4-BE49-F238E27FC236}">
                <a16:creationId xmlns:a16="http://schemas.microsoft.com/office/drawing/2014/main" id="{C768C9CD-07D3-499A-AF2E-0F7E350A2A0E}"/>
              </a:ext>
            </a:extLst>
          </p:cNvPr>
          <p:cNvSpPr>
            <a:spLocks xmlns:a="http://schemas.openxmlformats.org/drawingml/2006/main" noGrp="1"/>
          </p:cNvSpPr>
          <p:nvPr/>
        </p:nvSpPr>
        <p:spPr>
          <a:xfrm xmlns:a="http://schemas.openxmlformats.org/drawingml/2006/main">
            <a:off x="7258050" y="2047875"/>
            <a:ext cx="4343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8B7CFF"/>
                </a:solidFill>
                <a:latin typeface="Aptos"/>
                <a:ea typeface="Aptos"/>
                <a:cs typeface="Aptos"/>
              </a:defRPr>
            </a:pPr>
            <a:r>
              <a:rPr sz="1275" b="1">
                <a:solidFill>
                  <a:srgbClr val="8B7CFF"/>
                </a:solidFill>
                <a:latin typeface="Aptos"/>
                <a:ea typeface="Aptos"/>
                <a:cs typeface="Aptos"/>
              </a:rPr>
              <a:t>GKE STANDARD · europe-west4-a</a:t>
            </a:r>
          </a:p>
          <a:p xmlns:a="http://schemas.openxmlformats.org/drawingml/2006/main">
            <a:pPr algn="l">
              <a:buNone/>
              <a:defRPr sz="1275" b="1">
                <a:solidFill>
                  <a:srgbClr val="8B7CFF"/>
                </a:solidFill>
                <a:latin typeface="Aptos"/>
                <a:ea typeface="Aptos"/>
                <a:cs typeface="Aptos"/>
              </a:defRPr>
            </a:pPr>
            <a:r>
              <a:rPr sz="1275" b="1">
                <a:solidFill>
                  <a:srgbClr val="8B7CFF"/>
                </a:solidFill>
                <a:latin typeface="Aptos"/>
                <a:ea typeface="Aptos"/>
                <a:cs typeface="Aptos"/>
              </a:rPr>
              <a:t>READY: 1 media + 2 worker nodes · SLEEPING: 0 nodes</a:t>
            </a:r>
          </a:p>
        </p:txBody>
      </p:sp>
      <p:sp>
        <p:nvSpPr>
          <p:cNvPr id="9" name="vertex-live-boundary">
            <a:extLst xmlns:a="http://schemas.openxmlformats.org/drawingml/2006/main">
              <a:ext uri="{FF2B5EF4-FFF2-40B4-BE49-F238E27FC236}">
                <a16:creationId xmlns:a16="http://schemas.microsoft.com/office/drawing/2014/main" id="{07592032-2941-4BCD-9EE4-E0ABA66171EF}"/>
              </a:ext>
            </a:extLst>
          </p:cNvPr>
          <p:cNvSpPr>
            <a:spLocks xmlns:a="http://schemas.openxmlformats.org/drawingml/2006/main" noGrp="1"/>
          </p:cNvSpPr>
          <p:nvPr/>
        </p:nvSpPr>
        <p:spPr>
          <a:xfrm xmlns:a="http://schemas.openxmlformats.org/drawingml/2006/main">
            <a:off x="12049125" y="1952625"/>
            <a:ext cx="2476500" cy="2905125"/>
          </a:xfrm>
          <a:prstGeom xmlns:a="http://schemas.openxmlformats.org/drawingml/2006/main" prst="roundRect">
            <a:avLst>
              <a:gd name="adj" fmla="val 6923"/>
            </a:avLst>
          </a:prstGeom>
          <a:solidFill xmlns:a="http://schemas.openxmlformats.org/drawingml/2006/main">
            <a:srgbClr val="0D1538"/>
          </a:solidFill>
          <a:ln xmlns:a="http://schemas.openxmlformats.org/drawingml/2006/main" w="19050">
            <a:solidFill>
              <a:srgbClr val="63E6BE"/>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vertex-live-title">
            <a:extLst xmlns:a="http://schemas.openxmlformats.org/drawingml/2006/main">
              <a:ext uri="{FF2B5EF4-FFF2-40B4-BE49-F238E27FC236}">
                <a16:creationId xmlns:a16="http://schemas.microsoft.com/office/drawing/2014/main" id="{72571A8A-474A-47CF-9068-C0A694DF3574}"/>
              </a:ext>
            </a:extLst>
          </p:cNvPr>
          <p:cNvSpPr>
            <a:spLocks xmlns:a="http://schemas.openxmlformats.org/drawingml/2006/main" noGrp="1"/>
          </p:cNvSpPr>
          <p:nvPr/>
        </p:nvSpPr>
        <p:spPr>
          <a:xfrm xmlns:a="http://schemas.openxmlformats.org/drawingml/2006/main">
            <a:off x="12258675" y="2047875"/>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63E6BE"/>
                </a:solidFill>
                <a:latin typeface="Aptos"/>
                <a:ea typeface="Aptos"/>
                <a:cs typeface="Aptos"/>
              </a:defRPr>
            </a:pPr>
            <a:r>
              <a:rPr sz="1425" b="1">
                <a:solidFill>
                  <a:srgbClr val="63E6BE"/>
                </a:solidFill>
                <a:latin typeface="Aptos"/>
                <a:ea typeface="Aptos"/>
                <a:cs typeface="Aptos"/>
              </a:rPr>
              <a:t>VERTEX AI</a:t>
            </a:r>
          </a:p>
        </p:txBody>
      </p:sp>
      <p:sp>
        <p:nvSpPr>
          <p:cNvPr id="11" name="security-boundary">
            <a:extLst xmlns:a="http://schemas.openxmlformats.org/drawingml/2006/main">
              <a:ext uri="{FF2B5EF4-FFF2-40B4-BE49-F238E27FC236}">
                <a16:creationId xmlns:a16="http://schemas.microsoft.com/office/drawing/2014/main" id="{ECD735A0-993C-477C-8D5B-44F3A3FEE320}"/>
              </a:ext>
            </a:extLst>
          </p:cNvPr>
          <p:cNvSpPr>
            <a:spLocks xmlns:a="http://schemas.openxmlformats.org/drawingml/2006/main" noGrp="1"/>
          </p:cNvSpPr>
          <p:nvPr/>
        </p:nvSpPr>
        <p:spPr>
          <a:xfrm xmlns:a="http://schemas.openxmlformats.org/drawingml/2006/main">
            <a:off x="2571750" y="5572125"/>
            <a:ext cx="3857625" cy="1905000"/>
          </a:xfrm>
          <a:prstGeom xmlns:a="http://schemas.openxmlformats.org/drawingml/2006/main" prst="roundRect">
            <a:avLst>
              <a:gd name="adj" fmla="val 9000"/>
            </a:avLst>
          </a:prstGeom>
          <a:solidFill xmlns:a="http://schemas.openxmlformats.org/drawingml/2006/main">
            <a:srgbClr val="0D1538"/>
          </a:solidFill>
          <a:ln xmlns:a="http://schemas.openxmlformats.org/drawingml/2006/main" w="19050">
            <a:solidFill>
              <a:srgbClr val="62CDF6"/>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ecurity-title">
            <a:extLst xmlns:a="http://schemas.openxmlformats.org/drawingml/2006/main">
              <a:ext uri="{FF2B5EF4-FFF2-40B4-BE49-F238E27FC236}">
                <a16:creationId xmlns:a16="http://schemas.microsoft.com/office/drawing/2014/main" id="{F2F5B963-FA3C-4383-A4D5-BCEA470FCAD4}"/>
              </a:ext>
            </a:extLst>
          </p:cNvPr>
          <p:cNvSpPr>
            <a:spLocks xmlns:a="http://schemas.openxmlformats.org/drawingml/2006/main" noGrp="1"/>
          </p:cNvSpPr>
          <p:nvPr/>
        </p:nvSpPr>
        <p:spPr>
          <a:xfrm xmlns:a="http://schemas.openxmlformats.org/drawingml/2006/main">
            <a:off x="2781300" y="5667375"/>
            <a:ext cx="3438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62CDF6"/>
                </a:solidFill>
                <a:latin typeface="Aptos"/>
                <a:ea typeface="Aptos"/>
                <a:cs typeface="Aptos"/>
              </a:defRPr>
            </a:pPr>
            <a:r>
              <a:rPr sz="1425" b="1">
                <a:solidFill>
                  <a:srgbClr val="62CDF6"/>
                </a:solidFill>
                <a:latin typeface="Aptos"/>
                <a:ea typeface="Aptos"/>
                <a:cs typeface="Aptos"/>
              </a:rPr>
              <a:t>CONTROL SECURITY</a:t>
            </a:r>
          </a:p>
        </p:txBody>
      </p:sp>
      <p:sp>
        <p:nvSpPr>
          <p:cNvPr id="13" name="persistent-boundary">
            <a:extLst xmlns:a="http://schemas.openxmlformats.org/drawingml/2006/main">
              <a:ext uri="{FF2B5EF4-FFF2-40B4-BE49-F238E27FC236}">
                <a16:creationId xmlns:a16="http://schemas.microsoft.com/office/drawing/2014/main" id="{E64BE567-6496-4C28-8D29-74C2996A6E10}"/>
              </a:ext>
            </a:extLst>
          </p:cNvPr>
          <p:cNvSpPr>
            <a:spLocks xmlns:a="http://schemas.openxmlformats.org/drawingml/2006/main" noGrp="1"/>
          </p:cNvSpPr>
          <p:nvPr/>
        </p:nvSpPr>
        <p:spPr>
          <a:xfrm xmlns:a="http://schemas.openxmlformats.org/drawingml/2006/main">
            <a:off x="6667500" y="5572125"/>
            <a:ext cx="5381625" cy="1905000"/>
          </a:xfrm>
          <a:prstGeom xmlns:a="http://schemas.openxmlformats.org/drawingml/2006/main" prst="roundRect">
            <a:avLst>
              <a:gd name="adj" fmla="val 9000"/>
            </a:avLst>
          </a:prstGeom>
          <a:solidFill xmlns:a="http://schemas.openxmlformats.org/drawingml/2006/main">
            <a:srgbClr val="0D1538"/>
          </a:solidFill>
          <a:ln xmlns:a="http://schemas.openxmlformats.org/drawingml/2006/main" w="19050">
            <a:solidFill>
              <a:srgbClr val="62CDF6"/>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persistent-title">
            <a:extLst xmlns:a="http://schemas.openxmlformats.org/drawingml/2006/main">
              <a:ext uri="{FF2B5EF4-FFF2-40B4-BE49-F238E27FC236}">
                <a16:creationId xmlns:a16="http://schemas.microsoft.com/office/drawing/2014/main" id="{02CC26A7-6E5C-4FF3-9FDA-0BF27D75CC09}"/>
              </a:ext>
            </a:extLst>
          </p:cNvPr>
          <p:cNvSpPr>
            <a:spLocks xmlns:a="http://schemas.openxmlformats.org/drawingml/2006/main" noGrp="1"/>
          </p:cNvSpPr>
          <p:nvPr/>
        </p:nvSpPr>
        <p:spPr>
          <a:xfrm xmlns:a="http://schemas.openxmlformats.org/drawingml/2006/main">
            <a:off x="6877050" y="5667375"/>
            <a:ext cx="4962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62CDF6"/>
                </a:solidFill>
                <a:latin typeface="Aptos"/>
                <a:ea typeface="Aptos"/>
                <a:cs typeface="Aptos"/>
              </a:defRPr>
            </a:pPr>
            <a:r>
              <a:rPr sz="1425" b="1">
                <a:solidFill>
                  <a:srgbClr val="62CDF6"/>
                </a:solidFill>
                <a:latin typeface="Aptos"/>
                <a:ea typeface="Aptos"/>
                <a:cs typeface="Aptos"/>
              </a:rPr>
              <a:t>PERSISTENT DATA</a:t>
            </a:r>
          </a:p>
        </p:txBody>
      </p:sp>
      <p:sp>
        <p:nvSpPr>
          <p:cNvPr id="15" name="admin-browser">
            <a:extLst xmlns:a="http://schemas.openxmlformats.org/drawingml/2006/main">
              <a:ext uri="{FF2B5EF4-FFF2-40B4-BE49-F238E27FC236}">
                <a16:creationId xmlns:a16="http://schemas.microsoft.com/office/drawing/2014/main" id="{B3AA01FD-C017-4F45-A0C8-5C9A38462329}"/>
              </a:ext>
            </a:extLst>
          </p:cNvPr>
          <p:cNvSpPr>
            <a:spLocks xmlns:a="http://schemas.openxmlformats.org/drawingml/2006/main" noGrp="1"/>
          </p:cNvSpPr>
          <p:nvPr/>
        </p:nvSpPr>
        <p:spPr>
          <a:xfrm xmlns:a="http://schemas.openxmlformats.org/drawingml/2006/main">
            <a:off x="381000" y="2047875"/>
            <a:ext cx="1952625"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9569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Admin browser</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HTTPS administration</a:t>
            </a:r>
          </a:p>
        </p:txBody>
      </p:sp>
      <p:sp>
        <p:nvSpPr>
          <p:cNvPr id="16" name="participant-browsers">
            <a:extLst xmlns:a="http://schemas.openxmlformats.org/drawingml/2006/main">
              <a:ext uri="{FF2B5EF4-FFF2-40B4-BE49-F238E27FC236}">
                <a16:creationId xmlns:a16="http://schemas.microsoft.com/office/drawing/2014/main" id="{CE2ABC51-555A-41E3-971F-CA5FC68D899B}"/>
              </a:ext>
            </a:extLst>
          </p:cNvPr>
          <p:cNvSpPr>
            <a:spLocks xmlns:a="http://schemas.openxmlformats.org/drawingml/2006/main" noGrp="1"/>
          </p:cNvSpPr>
          <p:nvPr/>
        </p:nvSpPr>
        <p:spPr>
          <a:xfrm xmlns:a="http://schemas.openxmlformats.org/drawingml/2006/main">
            <a:off x="381000" y="3571875"/>
            <a:ext cx="1952625" cy="1095375"/>
          </a:xfrm>
          <a:prstGeom xmlns:a="http://schemas.openxmlformats.org/drawingml/2006/main" prst="roundRect">
            <a:avLst>
              <a:gd name="adj" fmla="val 13913"/>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Participant browsers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2–10 per meeting</a:t>
            </a:r>
          </a:p>
        </p:txBody>
      </p:sp>
      <p:sp>
        <p:nvSpPr>
          <p:cNvPr id="17" name="cloud-run-control">
            <a:extLst xmlns:a="http://schemas.openxmlformats.org/drawingml/2006/main">
              <a:ext uri="{FF2B5EF4-FFF2-40B4-BE49-F238E27FC236}">
                <a16:creationId xmlns:a16="http://schemas.microsoft.com/office/drawing/2014/main" id="{A3B472ED-30A4-4533-A21A-B33961358B69}"/>
              </a:ext>
            </a:extLst>
          </p:cNvPr>
          <p:cNvSpPr>
            <a:spLocks xmlns:a="http://schemas.openxmlformats.org/drawingml/2006/main" noGrp="1"/>
          </p:cNvSpPr>
          <p:nvPr/>
        </p:nvSpPr>
        <p:spPr>
          <a:xfrm xmlns:a="http://schemas.openxmlformats.org/drawingml/2006/main">
            <a:off x="2714625" y="2047875"/>
            <a:ext cx="1952625" cy="1190625"/>
          </a:xfrm>
          <a:prstGeom xmlns:a="http://schemas.openxmlformats.org/drawingml/2006/main" prst="roundRect">
            <a:avLst>
              <a:gd name="adj" fmla="val 12800"/>
            </a:avLst>
          </a:prstGeom>
          <a:solidFill xmlns:a="http://schemas.openxmlformats.org/drawingml/2006/main">
            <a:srgbClr val="111A43"/>
          </a:solidFill>
          <a:ln xmlns:a="http://schemas.openxmlformats.org/drawingml/2006/main" w="28575">
            <a:solidFill>
              <a:srgbClr val="63E6BE"/>
            </a:solidFill>
            <a:prstDash val="solid"/>
          </a:ln>
        </p:spPr>
        <p:txBody>
          <a:bodyPr xmlns:a="http://schemas.openxmlformats.org/drawingml/2006/main" wrap="square" lIns="95250" tIns="76200" rIns="95250" bIns="76200" anchor="ctr">
            <a:normAutofit fontScale="96832"/>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Cloud Run</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React UI + FastAPI
0–10 instances</a:t>
            </a:r>
          </a:p>
        </p:txBody>
      </p:sp>
      <p:sp>
        <p:nvSpPr>
          <p:cNvPr id="18" name="signaling-turn">
            <a:extLst xmlns:a="http://schemas.openxmlformats.org/drawingml/2006/main">
              <a:ext uri="{FF2B5EF4-FFF2-40B4-BE49-F238E27FC236}">
                <a16:creationId xmlns:a16="http://schemas.microsoft.com/office/drawing/2014/main" id="{868B3366-1D35-48CA-B066-97B33C405BC0}"/>
              </a:ext>
            </a:extLst>
          </p:cNvPr>
          <p:cNvSpPr>
            <a:spLocks xmlns:a="http://schemas.openxmlformats.org/drawingml/2006/main" noGrp="1"/>
          </p:cNvSpPr>
          <p:nvPr/>
        </p:nvSpPr>
        <p:spPr>
          <a:xfrm xmlns:a="http://schemas.openxmlformats.org/drawingml/2006/main">
            <a:off x="5048250" y="3571875"/>
            <a:ext cx="1714500" cy="1095375"/>
          </a:xfrm>
          <a:prstGeom xmlns:a="http://schemas.openxmlformats.org/drawingml/2006/main" prst="roundRect">
            <a:avLst>
              <a:gd name="adj" fmla="val 13913"/>
            </a:avLst>
          </a:prstGeom>
          <a:solidFill xmlns:a="http://schemas.openxmlformats.org/drawingml/2006/main">
            <a:srgbClr val="111A43"/>
          </a:solidFill>
          <a:ln xmlns:a="http://schemas.openxmlformats.org/drawingml/2006/main" w="19050">
            <a:solidFill>
              <a:srgbClr val="8B7CFF"/>
            </a:solidFill>
            <a:prstDash val="solid"/>
          </a:ln>
        </p:spPr>
        <p:txBody>
          <a:bodyPr xmlns:a="http://schemas.openxmlformats.org/drawingml/2006/main" wrap="square" lIns="95250" tIns="76200" rIns="95250" bIns="76200" anchor="ctr">
            <a:normAutofit fontScale="80599"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Signaling + TURN</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Public endpoints only
while READY</a:t>
            </a:r>
          </a:p>
        </p:txBody>
      </p:sp>
      <p:sp>
        <p:nvSpPr>
          <p:cNvPr id="19" name="livekit">
            <a:extLst xmlns:a="http://schemas.openxmlformats.org/drawingml/2006/main">
              <a:ext uri="{FF2B5EF4-FFF2-40B4-BE49-F238E27FC236}">
                <a16:creationId xmlns:a16="http://schemas.microsoft.com/office/drawing/2014/main" id="{C666A339-A097-4A97-AD07-4AA46C485203}"/>
              </a:ext>
            </a:extLst>
          </p:cNvPr>
          <p:cNvSpPr>
            <a:spLocks xmlns:a="http://schemas.openxmlformats.org/drawingml/2006/main" noGrp="1"/>
          </p:cNvSpPr>
          <p:nvPr/>
        </p:nvSpPr>
        <p:spPr>
          <a:xfrm xmlns:a="http://schemas.openxmlformats.org/drawingml/2006/main">
            <a:off x="7286625" y="2857500"/>
            <a:ext cx="1905000" cy="1143000"/>
          </a:xfrm>
          <a:prstGeom xmlns:a="http://schemas.openxmlformats.org/drawingml/2006/main" prst="roundRect">
            <a:avLst>
              <a:gd name="adj" fmla="val 13333"/>
            </a:avLst>
          </a:prstGeom>
          <a:solidFill xmlns:a="http://schemas.openxmlformats.org/drawingml/2006/main">
            <a:srgbClr val="111A43"/>
          </a:solidFill>
          <a:ln xmlns:a="http://schemas.openxmlformats.org/drawingml/2006/main" w="19050">
            <a:solidFill>
              <a:srgbClr val="8B7CFF"/>
            </a:solidFill>
            <a:prstDash val="solid"/>
          </a:ln>
        </p:spPr>
        <p:txBody>
          <a:bodyPr xmlns:a="http://schemas.openxmlformats.org/drawingml/2006/main" wrap="square" lIns="95250" tIns="76200" rIns="95250" bIns="76200" anchor="ctr">
            <a:normAutofit fontScale="93274"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LiveKit</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WebRTC + server-enforced floor
1–3 media pods</a:t>
            </a:r>
          </a:p>
        </p:txBody>
      </p:sp>
      <p:sp>
        <p:nvSpPr>
          <p:cNvPr id="20" name="adk-workers">
            <a:extLst xmlns:a="http://schemas.openxmlformats.org/drawingml/2006/main">
              <a:ext uri="{FF2B5EF4-FFF2-40B4-BE49-F238E27FC236}">
                <a16:creationId xmlns:a16="http://schemas.microsoft.com/office/drawing/2014/main" id="{120FBF08-3AFD-40C2-9E36-C81D5016369A}"/>
              </a:ext>
            </a:extLst>
          </p:cNvPr>
          <p:cNvSpPr>
            <a:spLocks xmlns:a="http://schemas.openxmlformats.org/drawingml/2006/main" noGrp="1"/>
          </p:cNvSpPr>
          <p:nvPr/>
        </p:nvSpPr>
        <p:spPr>
          <a:xfrm xmlns:a="http://schemas.openxmlformats.org/drawingml/2006/main">
            <a:off x="9620250" y="2857500"/>
            <a:ext cx="1952625" cy="1143000"/>
          </a:xfrm>
          <a:prstGeom xmlns:a="http://schemas.openxmlformats.org/drawingml/2006/main" prst="roundRect">
            <a:avLst>
              <a:gd name="adj" fmla="val 13333"/>
            </a:avLst>
          </a:prstGeom>
          <a:solidFill xmlns:a="http://schemas.openxmlformats.org/drawingml/2006/main">
            <a:srgbClr val="111A43"/>
          </a:solidFill>
          <a:ln xmlns:a="http://schemas.openxmlformats.org/drawingml/2006/main" w="28575">
            <a:solidFill>
              <a:srgbClr val="FF7D73"/>
            </a:solidFill>
            <a:prstDash val="solid"/>
          </a:ln>
        </p:spPr>
        <p:txBody>
          <a:bodyPr xmlns:a="http://schemas.openxmlformats.org/drawingml/2006/main" wrap="square" lIns="95250" tIns="76200" rIns="95250" bIns="76200" anchor="ctr">
            <a:normAutofit fontScale="76873"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Google ADK workers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Audio bridge + validated tools
2–6 pods</a:t>
            </a:r>
          </a:p>
        </p:txBody>
      </p:sp>
      <p:sp>
        <p:nvSpPr>
          <p:cNvPr id="21" name="redis">
            <a:extLst xmlns:a="http://schemas.openxmlformats.org/drawingml/2006/main">
              <a:ext uri="{FF2B5EF4-FFF2-40B4-BE49-F238E27FC236}">
                <a16:creationId xmlns:a16="http://schemas.microsoft.com/office/drawing/2014/main" id="{7B1B8A10-A005-4ACD-A034-8E9E635C37D9}"/>
              </a:ext>
            </a:extLst>
          </p:cNvPr>
          <p:cNvSpPr>
            <a:spLocks xmlns:a="http://schemas.openxmlformats.org/drawingml/2006/main" noGrp="1"/>
          </p:cNvSpPr>
          <p:nvPr/>
        </p:nvSpPr>
        <p:spPr>
          <a:xfrm xmlns:a="http://schemas.openxmlformats.org/drawingml/2006/main">
            <a:off x="8429625" y="4143375"/>
            <a:ext cx="1809750" cy="619125"/>
          </a:xfrm>
          <a:prstGeom xmlns:a="http://schemas.openxmlformats.org/drawingml/2006/main" prst="roundRect">
            <a:avLst>
              <a:gd name="adj" fmla="val 24615"/>
            </a:avLst>
          </a:prstGeom>
          <a:solidFill xmlns:a="http://schemas.openxmlformats.org/drawingml/2006/main">
            <a:srgbClr val="111A43"/>
          </a:solidFill>
          <a:ln xmlns:a="http://schemas.openxmlformats.org/drawingml/2006/main" w="19050">
            <a:solidFill>
              <a:srgbClr val="8B7CFF"/>
            </a:solidFill>
            <a:prstDash val="solid"/>
          </a:ln>
        </p:spPr>
        <p:txBody>
          <a:bodyPr xmlns:a="http://schemas.openxmlformats.org/drawingml/2006/main" wrap="square" lIns="95250" tIns="76200" rIns="95250" bIns="76200" anchor="ctr">
            <a:normAutofit fontScale="74926"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700" b="1">
                <a:solidFill>
                  <a:srgbClr val="F8FAFC"/>
                </a:solidFill>
                <a:latin typeface="Aptos"/>
                <a:ea typeface="Aptos"/>
                <a:cs typeface="Aptos"/>
              </a:rPr>
              <a:t>Ephemeral Redis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LiveKit routing only</a:t>
            </a:r>
          </a:p>
        </p:txBody>
      </p:sp>
      <p:sp>
        <p:nvSpPr>
          <p:cNvPr id="22" name="gemini-live">
            <a:extLst xmlns:a="http://schemas.openxmlformats.org/drawingml/2006/main">
              <a:ext uri="{FF2B5EF4-FFF2-40B4-BE49-F238E27FC236}">
                <a16:creationId xmlns:a16="http://schemas.microsoft.com/office/drawing/2014/main" id="{56B8C0A9-A4F6-4A3A-88C5-6378A8B8CEAF}"/>
              </a:ext>
            </a:extLst>
          </p:cNvPr>
          <p:cNvSpPr>
            <a:spLocks xmlns:a="http://schemas.openxmlformats.org/drawingml/2006/main" noGrp="1"/>
          </p:cNvSpPr>
          <p:nvPr/>
        </p:nvSpPr>
        <p:spPr>
          <a:xfrm xmlns:a="http://schemas.openxmlformats.org/drawingml/2006/main">
            <a:off x="12239625" y="2714625"/>
            <a:ext cx="2095500"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63E6BE"/>
            </a:solidFill>
            <a:prstDash val="solid"/>
          </a:ln>
        </p:spPr>
        <p:txBody>
          <a:bodyPr xmlns:a="http://schemas.openxmlformats.org/drawingml/2006/main" wrap="square" lIns="95250" tIns="76200" rIns="95250" bIns="76200" anchor="ctr">
            <a:normAutofit fontScale="82356"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Gemini Live 2.5 Flash</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Native audio + function calls</a:t>
            </a:r>
          </a:p>
        </p:txBody>
      </p:sp>
      <p:sp>
        <p:nvSpPr>
          <p:cNvPr id="23" name="memory-bank">
            <a:extLst xmlns:a="http://schemas.openxmlformats.org/drawingml/2006/main">
              <a:ext uri="{FF2B5EF4-FFF2-40B4-BE49-F238E27FC236}">
                <a16:creationId xmlns:a16="http://schemas.microsoft.com/office/drawing/2014/main" id="{7F6B6D83-C827-4FF0-95C8-2CD28BF291A6}"/>
              </a:ext>
            </a:extLst>
          </p:cNvPr>
          <p:cNvSpPr>
            <a:spLocks xmlns:a="http://schemas.openxmlformats.org/drawingml/2006/main" noGrp="1"/>
          </p:cNvSpPr>
          <p:nvPr/>
        </p:nvSpPr>
        <p:spPr>
          <a:xfrm xmlns:a="http://schemas.openxmlformats.org/drawingml/2006/main">
            <a:off x="12239625" y="3905250"/>
            <a:ext cx="2095500" cy="809625"/>
          </a:xfrm>
          <a:prstGeom xmlns:a="http://schemas.openxmlformats.org/drawingml/2006/main" prst="roundRect">
            <a:avLst>
              <a:gd name="adj" fmla="val 18824"/>
            </a:avLst>
          </a:prstGeom>
          <a:solidFill xmlns:a="http://schemas.openxmlformats.org/drawingml/2006/main">
            <a:srgbClr val="111A43"/>
          </a:solidFill>
          <a:ln xmlns:a="http://schemas.openxmlformats.org/drawingml/2006/main" w="19050">
            <a:solidFill>
              <a:srgbClr val="63E6BE"/>
            </a:solidFill>
            <a:prstDash val="solid"/>
          </a:ln>
        </p:spPr>
        <p:txBody>
          <a:bodyPr xmlns:a="http://schemas.openxmlformats.org/drawingml/2006/main" wrap="square" lIns="95250" tIns="76200" rIns="95250" bIns="76200" anchor="ctr">
            <a:normAutofit fontScale="76221"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700" b="1">
                <a:solidFill>
                  <a:srgbClr val="F8FAFC"/>
                </a:solidFill>
                <a:latin typeface="Aptos"/>
                <a:ea typeface="Aptos"/>
                <a:cs typeface="Aptos"/>
              </a:rPr>
              <a:t>Agent Engine Memory Bank</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Cross-meeting commitments</a:t>
            </a:r>
          </a:p>
        </p:txBody>
      </p:sp>
      <p:sp>
        <p:nvSpPr>
          <p:cNvPr id="24" name="recaptcha">
            <a:extLst xmlns:a="http://schemas.openxmlformats.org/drawingml/2006/main">
              <a:ext uri="{FF2B5EF4-FFF2-40B4-BE49-F238E27FC236}">
                <a16:creationId xmlns:a16="http://schemas.microsoft.com/office/drawing/2014/main" id="{E143250F-3E31-4EDE-841B-241B833603C6}"/>
              </a:ext>
            </a:extLst>
          </p:cNvPr>
          <p:cNvSpPr>
            <a:spLocks xmlns:a="http://schemas.openxmlformats.org/drawingml/2006/main" noGrp="1"/>
          </p:cNvSpPr>
          <p:nvPr/>
        </p:nvSpPr>
        <p:spPr>
          <a:xfrm xmlns:a="http://schemas.openxmlformats.org/drawingml/2006/main">
            <a:off x="2686050" y="6238875"/>
            <a:ext cx="1295400" cy="857250"/>
          </a:xfrm>
          <a:prstGeom xmlns:a="http://schemas.openxmlformats.org/drawingml/2006/main" prst="roundRect">
            <a:avLst>
              <a:gd name="adj" fmla="val 17778"/>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90344" lnSpcReduction="20000"/>
          </a:bodyPr>
          <a:lstStyle xmlns:a="http://schemas.openxmlformats.org/drawingml/2006/main"/>
          <a:p xmlns:a="http://schemas.openxmlformats.org/drawingml/2006/main">
            <a:pPr algn="ctr">
              <a:spcAft>
                <a:spcPts val="5"/>
              </a:spcAft>
              <a:buNone/>
              <a:defRPr>
                <a:latin typeface="Aptos"/>
                <a:ea typeface="Aptos"/>
                <a:cs typeface="Aptos"/>
              </a:defRPr>
            </a:pPr>
            <a:r>
              <a:rPr sz="1600" b="1">
                <a:solidFill>
                  <a:srgbClr val="F8FAFC"/>
                </a:solidFill>
                <a:latin typeface="Aptos"/>
                <a:ea typeface="Aptos"/>
                <a:cs typeface="Aptos"/>
              </a:rPr>
              <a:t>Bot defense</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reCAPTCHA</a:t>
            </a:r>
          </a:p>
        </p:txBody>
      </p:sp>
      <p:sp>
        <p:nvSpPr>
          <p:cNvPr id="25" name="secret-manager">
            <a:extLst xmlns:a="http://schemas.openxmlformats.org/drawingml/2006/main">
              <a:ext uri="{FF2B5EF4-FFF2-40B4-BE49-F238E27FC236}">
                <a16:creationId xmlns:a16="http://schemas.microsoft.com/office/drawing/2014/main" id="{005FC1FF-E6C5-46F7-90A0-4B00B5321283}"/>
              </a:ext>
            </a:extLst>
          </p:cNvPr>
          <p:cNvSpPr>
            <a:spLocks xmlns:a="http://schemas.openxmlformats.org/drawingml/2006/main" noGrp="1"/>
          </p:cNvSpPr>
          <p:nvPr/>
        </p:nvSpPr>
        <p:spPr>
          <a:xfrm xmlns:a="http://schemas.openxmlformats.org/drawingml/2006/main">
            <a:off x="4010025" y="6238875"/>
            <a:ext cx="1123950" cy="857250"/>
          </a:xfrm>
          <a:prstGeom xmlns:a="http://schemas.openxmlformats.org/drawingml/2006/main" prst="roundRect">
            <a:avLst>
              <a:gd name="adj" fmla="val 17778"/>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100000" lnSpcReduction="20000"/>
          </a:bodyPr>
          <a:lstStyle xmlns:a="http://schemas.openxmlformats.org/drawingml/2006/main"/>
          <a:p xmlns:a="http://schemas.openxmlformats.org/drawingml/2006/main">
            <a:pPr algn="ctr">
              <a:spcAft>
                <a:spcPts val="5"/>
              </a:spcAft>
              <a:buNone/>
              <a:defRPr>
                <a:latin typeface="Aptos"/>
                <a:ea typeface="Aptos"/>
                <a:cs typeface="Aptos"/>
              </a:defRPr>
            </a:pPr>
            <a:r>
              <a:rPr sz="1600" b="1">
                <a:solidFill>
                  <a:srgbClr val="F8FAFC"/>
                </a:solidFill>
                <a:latin typeface="Aptos"/>
                <a:ea typeface="Aptos"/>
                <a:cs typeface="Aptos"/>
              </a:rPr>
              <a:t>Secret</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Manager</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Secrets</a:t>
            </a:r>
          </a:p>
        </p:txBody>
      </p:sp>
      <p:sp>
        <p:nvSpPr>
          <p:cNvPr id="26" name="cloud-kms">
            <a:extLst xmlns:a="http://schemas.openxmlformats.org/drawingml/2006/main">
              <a:ext uri="{FF2B5EF4-FFF2-40B4-BE49-F238E27FC236}">
                <a16:creationId xmlns:a16="http://schemas.microsoft.com/office/drawing/2014/main" id="{734DBC3D-F9B9-430E-A1F3-13A7C5FCA4E7}"/>
              </a:ext>
            </a:extLst>
          </p:cNvPr>
          <p:cNvSpPr>
            <a:spLocks xmlns:a="http://schemas.openxmlformats.org/drawingml/2006/main" noGrp="1"/>
          </p:cNvSpPr>
          <p:nvPr/>
        </p:nvSpPr>
        <p:spPr>
          <a:xfrm xmlns:a="http://schemas.openxmlformats.org/drawingml/2006/main">
            <a:off x="5191125" y="6238875"/>
            <a:ext cx="1047750" cy="857250"/>
          </a:xfrm>
          <a:prstGeom xmlns:a="http://schemas.openxmlformats.org/drawingml/2006/main" prst="roundRect">
            <a:avLst>
              <a:gd name="adj" fmla="val 17778"/>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80701"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700" b="1">
                <a:solidFill>
                  <a:srgbClr val="F8FAFC"/>
                </a:solidFill>
                <a:latin typeface="Aptos"/>
                <a:ea typeface="Aptos"/>
                <a:cs typeface="Aptos"/>
              </a:rPr>
              <a:t>Cloud KMS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Seat links</a:t>
            </a:r>
          </a:p>
        </p:txBody>
      </p:sp>
      <p:sp>
        <p:nvSpPr>
          <p:cNvPr id="27" name="firestore">
            <a:extLst xmlns:a="http://schemas.openxmlformats.org/drawingml/2006/main">
              <a:ext uri="{FF2B5EF4-FFF2-40B4-BE49-F238E27FC236}">
                <a16:creationId xmlns:a16="http://schemas.microsoft.com/office/drawing/2014/main" id="{226018BA-6827-48CE-88B1-A3D0C9ED2F16}"/>
              </a:ext>
            </a:extLst>
          </p:cNvPr>
          <p:cNvSpPr>
            <a:spLocks xmlns:a="http://schemas.openxmlformats.org/drawingml/2006/main" noGrp="1"/>
          </p:cNvSpPr>
          <p:nvPr/>
        </p:nvSpPr>
        <p:spPr>
          <a:xfrm xmlns:a="http://schemas.openxmlformats.org/drawingml/2006/main">
            <a:off x="6905625" y="6191250"/>
            <a:ext cx="3381375"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86552"/>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Firestore Native · rolecall-dev</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Rooms · sessions · transcripts · recaps
vector chunks · citations · runtime state</a:t>
            </a:r>
          </a:p>
        </p:txBody>
      </p:sp>
      <p:sp>
        <p:nvSpPr>
          <p:cNvPr id="28" name="observability">
            <a:extLst xmlns:a="http://schemas.openxmlformats.org/drawingml/2006/main">
              <a:ext uri="{FF2B5EF4-FFF2-40B4-BE49-F238E27FC236}">
                <a16:creationId xmlns:a16="http://schemas.microsoft.com/office/drawing/2014/main" id="{47266229-E811-46B0-950C-8C90B59E8C19}"/>
              </a:ext>
            </a:extLst>
          </p:cNvPr>
          <p:cNvSpPr>
            <a:spLocks xmlns:a="http://schemas.openxmlformats.org/drawingml/2006/main" noGrp="1"/>
          </p:cNvSpPr>
          <p:nvPr/>
        </p:nvSpPr>
        <p:spPr>
          <a:xfrm xmlns:a="http://schemas.openxmlformats.org/drawingml/2006/main">
            <a:off x="12382500" y="6191250"/>
            <a:ext cx="2333625"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33436F"/>
            </a:solidFill>
            <a:prstDash val="solid"/>
          </a:ln>
        </p:spPr>
        <p:txBody>
          <a:bodyPr xmlns:a="http://schemas.openxmlformats.org/drawingml/2006/main" wrap="square" lIns="95250" tIns="76200" rIns="95250" bIns="76200" anchor="ctr">
            <a:normAutofit fontScale="92084"/>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Logging · Monitoring · Trace</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Redacted telemetry only</a:t>
            </a:r>
          </a:p>
        </p:txBody>
      </p:sp>
      <p:cxnSp>
        <p:nvCxnSpPr>
          <p:cNvPr id="160" name="Straight Arrow Connector 75"/>
          <p:cNvCxnSpPr>
            <a:stCxn xmlns:a="http://schemas.openxmlformats.org/drawingml/2006/main" id="15" idx="3"/>
            <a:endCxn xmlns:a="http://schemas.openxmlformats.org/drawingml/2006/main" id="17" idx="1"/>
          </p:cNvCxnSpPr>
          <p:nvPr/>
        </p:nvCxnSpPr>
        <p:spPr>
          <a:xfrm xmlns:a="http://schemas.openxmlformats.org/drawingml/2006/main">
            <a:off x="2333625" y="2547938"/>
            <a:ext cx="381000" cy="95250"/>
          </a:xfrm>
          <a:prstGeom xmlns:a="http://schemas.openxmlformats.org/drawingml/2006/main" prst="straightConnector1">
            <a:avLst/>
          </a:prstGeom>
          <a:ln xmlns:a="http://schemas.openxmlformats.org/drawingml/2006/main" w="28575">
            <a:solidFill>
              <a:srgbClr val="63E6BE"/>
            </a:solidFill>
            <a:prstDash val="solid"/>
            <a:headEnd type="none" w="med" len="med"/>
            <a:tailEnd type="triangle" w="med" len="med"/>
          </a:ln>
        </p:spPr>
      </p:cxnSp>
      <p:cxnSp>
        <p:nvCxnSpPr>
          <p:cNvPr id="161" name="Elbow Connector 76"/>
          <p:cNvCxnSpPr>
            <a:stCxn xmlns:a="http://schemas.openxmlformats.org/drawingml/2006/main" id="16" idx="3"/>
            <a:endCxn xmlns:a="http://schemas.openxmlformats.org/drawingml/2006/main" id="17" idx="2"/>
          </p:cNvCxnSpPr>
          <p:nvPr/>
        </p:nvCxnSpPr>
        <p:spPr>
          <a:xfrm xmlns:a="http://schemas.openxmlformats.org/drawingml/2006/main" flipV="1">
            <a:off x="2333625" y="3238500"/>
            <a:ext cx="1357313" cy="881063"/>
          </a:xfrm>
          <a:prstGeom xmlns:a="http://schemas.openxmlformats.org/drawingml/2006/main" prst="bentConnector2">
            <a:avLst/>
          </a:prstGeom>
          <a:ln xmlns:a="http://schemas.openxmlformats.org/drawingml/2006/main" w="19050">
            <a:solidFill>
              <a:srgbClr val="62CDF6"/>
            </a:solidFill>
            <a:prstDash val="dash"/>
            <a:headEnd type="none" w="med" len="med"/>
            <a:tailEnd type="triangle" w="med" len="med"/>
          </a:ln>
        </p:spPr>
      </p:cxnSp>
      <p:cxnSp>
        <p:nvCxnSpPr>
          <p:cNvPr id="162" name="Straight Arrow Connector 77"/>
          <p:cNvCxnSpPr>
            <a:stCxn xmlns:a="http://schemas.openxmlformats.org/drawingml/2006/main" id="16" idx="3"/>
            <a:endCxn xmlns:a="http://schemas.openxmlformats.org/drawingml/2006/main" id="18" idx="1"/>
          </p:cNvCxnSpPr>
          <p:nvPr/>
        </p:nvCxnSpPr>
        <p:spPr>
          <a:xfrm xmlns:a="http://schemas.openxmlformats.org/drawingml/2006/main">
            <a:off x="2333625" y="4119563"/>
            <a:ext cx="2714625" cy="0"/>
          </a:xfrm>
          <a:prstGeom xmlns:a="http://schemas.openxmlformats.org/drawingml/2006/main" prst="straightConnector1">
            <a:avLst/>
          </a:prstGeom>
          <a:ln xmlns:a="http://schemas.openxmlformats.org/drawingml/2006/main" w="38100">
            <a:solidFill>
              <a:srgbClr val="62CDF6"/>
            </a:solidFill>
            <a:prstDash val="solid"/>
            <a:headEnd type="arrow" w="med" len="med"/>
            <a:tailEnd type="arrow" w="med" len="med"/>
          </a:ln>
        </p:spPr>
      </p:cxnSp>
      <p:cxnSp>
        <p:nvCxnSpPr>
          <p:cNvPr id="163" name="Straight Arrow Connector 78"/>
          <p:cNvCxnSpPr>
            <a:stCxn xmlns:a="http://schemas.openxmlformats.org/drawingml/2006/main" id="18" idx="3"/>
            <a:endCxn xmlns:a="http://schemas.openxmlformats.org/drawingml/2006/main" id="19" idx="1"/>
          </p:cNvCxnSpPr>
          <p:nvPr/>
        </p:nvCxnSpPr>
        <p:spPr>
          <a:xfrm xmlns:a="http://schemas.openxmlformats.org/drawingml/2006/main" flipV="1">
            <a:off x="6762750" y="3429000"/>
            <a:ext cx="523875" cy="690563"/>
          </a:xfrm>
          <a:prstGeom xmlns:a="http://schemas.openxmlformats.org/drawingml/2006/main" prst="straightConnector1">
            <a:avLst/>
          </a:prstGeom>
          <a:ln xmlns:a="http://schemas.openxmlformats.org/drawingml/2006/main" w="38100">
            <a:solidFill>
              <a:srgbClr val="8B7CFF"/>
            </a:solidFill>
            <a:prstDash val="solid"/>
            <a:headEnd type="arrow" w="med" len="med"/>
            <a:tailEnd type="arrow" w="med" len="med"/>
          </a:ln>
        </p:spPr>
      </p:cxnSp>
      <p:cxnSp>
        <p:nvCxnSpPr>
          <p:cNvPr id="164" name="Elbow Connector 79"/>
          <p:cNvCxnSpPr>
            <a:stCxn xmlns:a="http://schemas.openxmlformats.org/drawingml/2006/main" id="17" idx="3"/>
            <a:endCxn xmlns:a="http://schemas.openxmlformats.org/drawingml/2006/main" id="19" idx="0"/>
          </p:cNvCxnSpPr>
          <p:nvPr/>
        </p:nvCxnSpPr>
        <p:spPr>
          <a:xfrm xmlns:a="http://schemas.openxmlformats.org/drawingml/2006/main">
            <a:off x="4667250" y="2643188"/>
            <a:ext cx="3571875" cy="214313"/>
          </a:xfrm>
          <a:prstGeom xmlns:a="http://schemas.openxmlformats.org/drawingml/2006/main" prst="bentConnector2">
            <a:avLst/>
          </a:prstGeom>
          <a:ln xmlns:a="http://schemas.openxmlformats.org/drawingml/2006/main" w="19050">
            <a:solidFill>
              <a:srgbClr val="63E6BE"/>
            </a:solidFill>
            <a:prstDash val="dash"/>
            <a:headEnd type="none" w="med" len="med"/>
            <a:tailEnd type="triangle" w="med" len="med"/>
          </a:ln>
        </p:spPr>
      </p:cxnSp>
      <p:cxnSp>
        <p:nvCxnSpPr>
          <p:cNvPr id="165" name="Straight Arrow Connector 80"/>
          <p:cNvCxnSpPr>
            <a:stCxn xmlns:a="http://schemas.openxmlformats.org/drawingml/2006/main" id="19" idx="3"/>
            <a:endCxn xmlns:a="http://schemas.openxmlformats.org/drawingml/2006/main" id="20" idx="1"/>
          </p:cNvCxnSpPr>
          <p:nvPr/>
        </p:nvCxnSpPr>
        <p:spPr>
          <a:xfrm xmlns:a="http://schemas.openxmlformats.org/drawingml/2006/main">
            <a:off x="9191625" y="3429000"/>
            <a:ext cx="428625" cy="0"/>
          </a:xfrm>
          <a:prstGeom xmlns:a="http://schemas.openxmlformats.org/drawingml/2006/main" prst="straightConnector1">
            <a:avLst/>
          </a:prstGeom>
          <a:ln xmlns:a="http://schemas.openxmlformats.org/drawingml/2006/main" w="38100">
            <a:solidFill>
              <a:srgbClr val="8B7CFF"/>
            </a:solidFill>
            <a:prstDash val="solid"/>
            <a:headEnd type="arrow" w="med" len="med"/>
            <a:tailEnd type="arrow" w="med" len="med"/>
          </a:ln>
        </p:spPr>
      </p:cxnSp>
      <p:cxnSp>
        <p:nvCxnSpPr>
          <p:cNvPr id="166" name="Straight Arrow Connector 81"/>
          <p:cNvCxnSpPr>
            <a:stCxn xmlns:a="http://schemas.openxmlformats.org/drawingml/2006/main" id="20" idx="3"/>
            <a:endCxn xmlns:a="http://schemas.openxmlformats.org/drawingml/2006/main" id="22" idx="1"/>
          </p:cNvCxnSpPr>
          <p:nvPr/>
        </p:nvCxnSpPr>
        <p:spPr>
          <a:xfrm xmlns:a="http://schemas.openxmlformats.org/drawingml/2006/main" flipV="1">
            <a:off x="11572875" y="3214688"/>
            <a:ext cx="666750" cy="214313"/>
          </a:xfrm>
          <a:prstGeom xmlns:a="http://schemas.openxmlformats.org/drawingml/2006/main" prst="straightConnector1">
            <a:avLst/>
          </a:prstGeom>
          <a:ln xmlns:a="http://schemas.openxmlformats.org/drawingml/2006/main" w="38100">
            <a:solidFill>
              <a:srgbClr val="63E6BE"/>
            </a:solidFill>
            <a:prstDash val="solid"/>
            <a:headEnd type="arrow" w="med" len="med"/>
            <a:tailEnd type="arrow" w="med" len="med"/>
          </a:ln>
        </p:spPr>
      </p:cxnSp>
      <p:cxnSp>
        <p:nvCxnSpPr>
          <p:cNvPr id="167" name="Elbow Connector 82"/>
          <p:cNvCxnSpPr>
            <a:stCxn xmlns:a="http://schemas.openxmlformats.org/drawingml/2006/main" id="20" idx="2"/>
            <a:endCxn xmlns:a="http://schemas.openxmlformats.org/drawingml/2006/main" id="21" idx="0"/>
          </p:cNvCxnSpPr>
          <p:nvPr/>
        </p:nvCxnSpPr>
        <p:spPr>
          <a:xfrm xmlns:a="http://schemas.openxmlformats.org/drawingml/2006/main" flipH="1">
            <a:off x="9334500" y="4000500"/>
            <a:ext cx="1262063" cy="142875"/>
          </a:xfrm>
          <a:prstGeom xmlns:a="http://schemas.openxmlformats.org/drawingml/2006/main" prst="bentConnector4">
            <a:avLst>
              <a:gd name="adj1" fmla="val 0"/>
              <a:gd name="adj2" fmla="val 50000"/>
            </a:avLst>
          </a:prstGeom>
          <a:ln xmlns:a="http://schemas.openxmlformats.org/drawingml/2006/main" w="19050">
            <a:solidFill>
              <a:srgbClr val="8B7CFF"/>
            </a:solidFill>
            <a:prstDash val="solid"/>
            <a:headEnd type="arrow" w="med" len="med"/>
            <a:tailEnd type="arrow" w="med" len="med"/>
          </a:ln>
        </p:spPr>
      </p:cxnSp>
      <p:cxnSp>
        <p:nvCxnSpPr>
          <p:cNvPr id="168" name="Elbow Connector 83"/>
          <p:cNvCxnSpPr>
            <a:stCxn xmlns:a="http://schemas.openxmlformats.org/drawingml/2006/main" id="20" idx="3"/>
            <a:endCxn xmlns:a="http://schemas.openxmlformats.org/drawingml/2006/main" id="23" idx="1"/>
          </p:cNvCxnSpPr>
          <p:nvPr/>
        </p:nvCxnSpPr>
        <p:spPr>
          <a:xfrm xmlns:a="http://schemas.openxmlformats.org/drawingml/2006/main">
            <a:off x="11572875" y="3429000"/>
            <a:ext cx="666750" cy="881063"/>
          </a:xfrm>
          <a:prstGeom xmlns:a="http://schemas.openxmlformats.org/drawingml/2006/main" prst="bentConnector3">
            <a:avLst>
              <a:gd name="adj1" fmla="val 50000"/>
            </a:avLst>
          </a:prstGeom>
          <a:ln xmlns:a="http://schemas.openxmlformats.org/drawingml/2006/main" w="19050">
            <a:solidFill>
              <a:srgbClr val="63E6BE"/>
            </a:solidFill>
            <a:prstDash val="dash"/>
            <a:headEnd type="arrow" w="med" len="med"/>
            <a:tailEnd type="arrow" w="med" len="med"/>
          </a:ln>
        </p:spPr>
      </p:cxnSp>
      <p:cxnSp>
        <p:nvCxnSpPr>
          <p:cNvPr id="169" name="Curved Connector 84"/>
          <p:cNvCxnSpPr>
            <a:stCxn xmlns:a="http://schemas.openxmlformats.org/drawingml/2006/main" id="17" idx="2"/>
            <a:endCxn xmlns:a="http://schemas.openxmlformats.org/drawingml/2006/main" id="27" idx="1"/>
          </p:cNvCxnSpPr>
          <p:nvPr/>
        </p:nvCxnSpPr>
        <p:spPr>
          <a:xfrm xmlns:a="http://schemas.openxmlformats.org/drawingml/2006/main" rot="16200000" flipH="1">
            <a:off x="3571875" y="3357563"/>
            <a:ext cx="3452813" cy="3214688"/>
          </a:xfrm>
          <a:prstGeom xmlns:a="http://schemas.openxmlformats.org/drawingml/2006/main" prst="curvedConnector3">
            <a:avLst>
              <a:gd name="adj1" fmla="val 50000"/>
            </a:avLst>
          </a:prstGeom>
          <a:ln xmlns:a="http://schemas.openxmlformats.org/drawingml/2006/main" w="19050">
            <a:solidFill>
              <a:srgbClr val="62CDF6"/>
            </a:solidFill>
            <a:prstDash val="solid"/>
            <a:headEnd type="arrow" w="med" len="med"/>
            <a:tailEnd type="arrow" w="med" len="med"/>
          </a:ln>
        </p:spPr>
      </p:cxnSp>
      <p:cxnSp>
        <p:nvCxnSpPr>
          <p:cNvPr id="170" name="Elbow Connector 85"/>
          <p:cNvCxnSpPr>
            <a:stCxn xmlns:a="http://schemas.openxmlformats.org/drawingml/2006/main" id="20" idx="2"/>
            <a:endCxn xmlns:a="http://schemas.openxmlformats.org/drawingml/2006/main" id="27" idx="0"/>
          </p:cNvCxnSpPr>
          <p:nvPr/>
        </p:nvCxnSpPr>
        <p:spPr>
          <a:xfrm xmlns:a="http://schemas.openxmlformats.org/drawingml/2006/main" flipH="1">
            <a:off x="8596313" y="4000500"/>
            <a:ext cx="2000250" cy="2190750"/>
          </a:xfrm>
          <a:prstGeom xmlns:a="http://schemas.openxmlformats.org/drawingml/2006/main" prst="bentConnector4">
            <a:avLst>
              <a:gd name="adj1" fmla="val 0"/>
              <a:gd name="adj2" fmla="val 50000"/>
            </a:avLst>
          </a:prstGeom>
          <a:ln xmlns:a="http://schemas.openxmlformats.org/drawingml/2006/main" w="19050">
            <a:solidFill>
              <a:srgbClr val="FF7D73"/>
            </a:solidFill>
            <a:prstDash val="solid"/>
            <a:headEnd type="none" w="med" len="med"/>
            <a:tailEnd type="triangle" w="med" len="med"/>
          </a:ln>
        </p:spPr>
      </p:cxnSp>
      <p:cxnSp>
        <p:nvCxnSpPr>
          <p:cNvPr id="171" name="Elbow Connector 86"/>
          <p:cNvCxnSpPr>
            <a:stCxn xmlns:a="http://schemas.openxmlformats.org/drawingml/2006/main" id="17" idx="2"/>
            <a:endCxn xmlns:a="http://schemas.openxmlformats.org/drawingml/2006/main" id="24" idx="0"/>
          </p:cNvCxnSpPr>
          <p:nvPr/>
        </p:nvCxnSpPr>
        <p:spPr>
          <a:xfrm xmlns:a="http://schemas.openxmlformats.org/drawingml/2006/main" flipH="1">
            <a:off x="3333750" y="3238500"/>
            <a:ext cx="357188" cy="3000375"/>
          </a:xfrm>
          <a:prstGeom xmlns:a="http://schemas.openxmlformats.org/drawingml/2006/main" prst="bentConnector4">
            <a:avLst>
              <a:gd name="adj1" fmla="val 0"/>
              <a:gd name="adj2" fmla="val 50000"/>
            </a:avLst>
          </a:prstGeom>
          <a:ln xmlns:a="http://schemas.openxmlformats.org/drawingml/2006/main" w="19050">
            <a:solidFill>
              <a:srgbClr val="62CDF6"/>
            </a:solidFill>
            <a:prstDash val="dash"/>
            <a:headEnd type="none" w="med" len="med"/>
            <a:tailEnd type="triangle" w="med" len="med"/>
          </a:ln>
        </p:spPr>
      </p:cxnSp>
      <p:cxnSp>
        <p:nvCxnSpPr>
          <p:cNvPr id="172" name="Straight Arrow Connector 87"/>
          <p:cNvCxnSpPr>
            <a:stCxn xmlns:a="http://schemas.openxmlformats.org/drawingml/2006/main" id="24" idx="3"/>
            <a:endCxn xmlns:a="http://schemas.openxmlformats.org/drawingml/2006/main" id="25" idx="1"/>
          </p:cNvCxnSpPr>
          <p:nvPr/>
        </p:nvCxnSpPr>
        <p:spPr>
          <a:xfrm xmlns:a="http://schemas.openxmlformats.org/drawingml/2006/main">
            <a:off x="3981450" y="6667500"/>
            <a:ext cx="28575" cy="0"/>
          </a:xfrm>
          <a:prstGeom xmlns:a="http://schemas.openxmlformats.org/drawingml/2006/main" prst="straightConnector1">
            <a:avLst/>
          </a:prstGeom>
          <a:ln xmlns:a="http://schemas.openxmlformats.org/drawingml/2006/main" w="9525">
            <a:solidFill>
              <a:srgbClr val="1C2A56"/>
            </a:solidFill>
            <a:prstDash val="solid"/>
            <a:headEnd type="none" w="med" len="med"/>
            <a:tailEnd type="triangle" w="med" len="med"/>
          </a:ln>
        </p:spPr>
      </p:cxnSp>
      <p:cxnSp>
        <p:nvCxnSpPr>
          <p:cNvPr id="173" name="Straight Arrow Connector 88"/>
          <p:cNvCxnSpPr>
            <a:stCxn xmlns:a="http://schemas.openxmlformats.org/drawingml/2006/main" id="25" idx="3"/>
            <a:endCxn xmlns:a="http://schemas.openxmlformats.org/drawingml/2006/main" id="26" idx="1"/>
          </p:cNvCxnSpPr>
          <p:nvPr/>
        </p:nvCxnSpPr>
        <p:spPr>
          <a:xfrm xmlns:a="http://schemas.openxmlformats.org/drawingml/2006/main">
            <a:off x="5133975" y="6667500"/>
            <a:ext cx="57150" cy="0"/>
          </a:xfrm>
          <a:prstGeom xmlns:a="http://schemas.openxmlformats.org/drawingml/2006/main" prst="straightConnector1">
            <a:avLst/>
          </a:prstGeom>
          <a:ln xmlns:a="http://schemas.openxmlformats.org/drawingml/2006/main" w="9525">
            <a:solidFill>
              <a:srgbClr val="1C2A56"/>
            </a:solidFill>
            <a:prstDash val="solid"/>
            <a:headEnd type="none" w="med" len="med"/>
            <a:tailEnd type="triangle" w="med" len="med"/>
          </a:ln>
        </p:spPr>
      </p:cxnSp>
      <p:sp>
        <p:nvSpPr>
          <p:cNvPr id="43" name="https-label">
            <a:extLst xmlns:a="http://schemas.openxmlformats.org/drawingml/2006/main">
              <a:ext uri="{FF2B5EF4-FFF2-40B4-BE49-F238E27FC236}">
                <a16:creationId xmlns:a16="http://schemas.microsoft.com/office/drawing/2014/main" id="{B6F1A433-7BD8-447B-96D1-AC0F4B6561CA}"/>
              </a:ext>
            </a:extLst>
          </p:cNvPr>
          <p:cNvSpPr>
            <a:spLocks xmlns:a="http://schemas.openxmlformats.org/drawingml/2006/main" noGrp="1"/>
          </p:cNvSpPr>
          <p:nvPr/>
        </p:nvSpPr>
        <p:spPr>
          <a:xfrm xmlns:a="http://schemas.openxmlformats.org/drawingml/2006/main">
            <a:off x="1066800" y="3105150"/>
            <a:ext cx="1190625" cy="247650"/>
          </a:xfrm>
          <a:prstGeom xmlns:a="http://schemas.openxmlformats.org/drawingml/2006/main" prst="rect">
            <a:avLst/>
          </a:prstGeom>
          <a:solidFill xmlns:a="http://schemas.openxmlformats.org/drawingml/2006/main">
            <a:srgbClr val="070B24"/>
          </a:solidFill>
          <a:ln xmlns:a="http://schemas.openxmlformats.org/drawingml/2006/main" w="0">
            <a:noFill/>
            <a:prstDash val="solid"/>
          </a:ln>
        </p:spPr>
        <p:txBody>
          <a:bodyPr xmlns:a="http://schemas.openxmlformats.org/drawingml/2006/main" wrap="square" lIns="47625" tIns="19050" rIns="47625" bIns="19050" anchor="ctr">
            <a:normAutofit/>
          </a:bodyPr>
          <a:lstStyle xmlns:a="http://schemas.openxmlformats.org/drawingml/2006/main"/>
          <a:p xmlns:a="http://schemas.openxmlformats.org/drawingml/2006/main">
            <a:pPr algn="ctr">
              <a:buNone/>
              <a:defRPr sz="1200" b="1">
                <a:solidFill>
                  <a:srgbClr val="62CDF6"/>
                </a:solidFill>
                <a:latin typeface="Aptos"/>
                <a:ea typeface="Aptos"/>
                <a:cs typeface="Aptos"/>
              </a:defRPr>
            </a:pPr>
            <a:r>
              <a:rPr sz="1200" b="1">
                <a:solidFill>
                  <a:srgbClr val="62CDF6"/>
                </a:solidFill>
                <a:latin typeface="Aptos"/>
                <a:ea typeface="Aptos"/>
                <a:cs typeface="Aptos"/>
              </a:rPr>
              <a:t>HTTPS control</a:t>
            </a:r>
          </a:p>
        </p:txBody>
      </p:sp>
      <p:sp>
        <p:nvSpPr>
          <p:cNvPr id="44" name="webrtc-label">
            <a:extLst xmlns:a="http://schemas.openxmlformats.org/drawingml/2006/main">
              <a:ext uri="{FF2B5EF4-FFF2-40B4-BE49-F238E27FC236}">
                <a16:creationId xmlns:a16="http://schemas.microsoft.com/office/drawing/2014/main" id="{7CFCD547-CC8B-4748-BFD7-683EE93EBAEB}"/>
              </a:ext>
            </a:extLst>
          </p:cNvPr>
          <p:cNvSpPr>
            <a:spLocks xmlns:a="http://schemas.openxmlformats.org/drawingml/2006/main" noGrp="1"/>
          </p:cNvSpPr>
          <p:nvPr/>
        </p:nvSpPr>
        <p:spPr>
          <a:xfrm xmlns:a="http://schemas.openxmlformats.org/drawingml/2006/main">
            <a:off x="2714625" y="4038600"/>
            <a:ext cx="2095500" cy="266700"/>
          </a:xfrm>
          <a:prstGeom xmlns:a="http://schemas.openxmlformats.org/drawingml/2006/main" prst="rect">
            <a:avLst/>
          </a:prstGeom>
          <a:solidFill xmlns:a="http://schemas.openxmlformats.org/drawingml/2006/main">
            <a:srgbClr val="070B24"/>
          </a:solidFill>
          <a:ln xmlns:a="http://schemas.openxmlformats.org/drawingml/2006/main" w="0">
            <a:noFill/>
            <a:prstDash val="solid"/>
          </a:ln>
        </p:spPr>
        <p:txBody>
          <a:bodyPr xmlns:a="http://schemas.openxmlformats.org/drawingml/2006/main" wrap="square" lIns="47625" tIns="19050" rIns="47625" bIns="19050" anchor="ctr">
            <a:normAutofit/>
          </a:bodyPr>
          <a:lstStyle xmlns:a="http://schemas.openxmlformats.org/drawingml/2006/main"/>
          <a:p xmlns:a="http://schemas.openxmlformats.org/drawingml/2006/main">
            <a:pPr algn="ctr">
              <a:buNone/>
              <a:defRPr sz="1200" b="1">
                <a:solidFill>
                  <a:srgbClr val="62CDF6"/>
                </a:solidFill>
                <a:latin typeface="Aptos"/>
                <a:ea typeface="Aptos"/>
                <a:cs typeface="Aptos"/>
              </a:defRPr>
            </a:pPr>
            <a:r>
              <a:rPr sz="1200" b="1">
                <a:solidFill>
                  <a:srgbClr val="62CDF6"/>
                </a:solidFill>
                <a:latin typeface="Aptos"/>
                <a:ea typeface="Aptos"/>
                <a:cs typeface="Aptos"/>
              </a:rPr>
              <a:t>DIRECT WebRTC AUDIO</a:t>
            </a:r>
          </a:p>
        </p:txBody>
      </p:sp>
      <p:sp>
        <p:nvSpPr>
          <p:cNvPr id="45" name="jwt-label">
            <a:extLst xmlns:a="http://schemas.openxmlformats.org/drawingml/2006/main">
              <a:ext uri="{FF2B5EF4-FFF2-40B4-BE49-F238E27FC236}">
                <a16:creationId xmlns:a16="http://schemas.microsoft.com/office/drawing/2014/main" id="{367C0519-0581-4451-AD93-3094EAD134DE}"/>
              </a:ext>
            </a:extLst>
          </p:cNvPr>
          <p:cNvSpPr>
            <a:spLocks xmlns:a="http://schemas.openxmlformats.org/drawingml/2006/main" noGrp="1"/>
          </p:cNvSpPr>
          <p:nvPr/>
        </p:nvSpPr>
        <p:spPr>
          <a:xfrm xmlns:a="http://schemas.openxmlformats.org/drawingml/2006/main">
            <a:off x="5000625" y="2381250"/>
            <a:ext cx="1952625" cy="266700"/>
          </a:xfrm>
          <a:prstGeom xmlns:a="http://schemas.openxmlformats.org/drawingml/2006/main" prst="rect">
            <a:avLst/>
          </a:prstGeom>
          <a:solidFill xmlns:a="http://schemas.openxmlformats.org/drawingml/2006/main">
            <a:srgbClr val="070B24"/>
          </a:solidFill>
          <a:ln xmlns:a="http://schemas.openxmlformats.org/drawingml/2006/main" w="0">
            <a:noFill/>
            <a:prstDash val="solid"/>
          </a:ln>
        </p:spPr>
        <p:txBody>
          <a:bodyPr xmlns:a="http://schemas.openxmlformats.org/drawingml/2006/main" wrap="square" lIns="47625" tIns="19050" rIns="47625" bIns="19050" anchor="ctr">
            <a:normAutofit/>
          </a:bodyPr>
          <a:lstStyle xmlns:a="http://schemas.openxmlformats.org/drawingml/2006/main"/>
          <a:p xmlns:a="http://schemas.openxmlformats.org/drawingml/2006/main">
            <a:pPr algn="ctr">
              <a:buNone/>
              <a:defRPr sz="1200" b="1">
                <a:solidFill>
                  <a:srgbClr val="63E6BE"/>
                </a:solidFill>
                <a:latin typeface="Aptos"/>
                <a:ea typeface="Aptos"/>
                <a:cs typeface="Aptos"/>
              </a:defRPr>
            </a:pPr>
            <a:r>
              <a:rPr sz="1200" b="1">
                <a:solidFill>
                  <a:srgbClr val="63E6BE"/>
                </a:solidFill>
                <a:latin typeface="Aptos"/>
                <a:ea typeface="Aptos"/>
                <a:cs typeface="Aptos"/>
              </a:rPr>
              <a:t>JWT + room permissions</a:t>
            </a:r>
          </a:p>
        </p:txBody>
      </p:sp>
      <p:sp>
        <p:nvSpPr>
          <p:cNvPr id="46" name="pcm-label">
            <a:extLst xmlns:a="http://schemas.openxmlformats.org/drawingml/2006/main">
              <a:ext uri="{FF2B5EF4-FFF2-40B4-BE49-F238E27FC236}">
                <a16:creationId xmlns:a16="http://schemas.microsoft.com/office/drawing/2014/main" id="{BDFF51BB-66BA-4807-8318-05AB184D10CF}"/>
              </a:ext>
            </a:extLst>
          </p:cNvPr>
          <p:cNvSpPr>
            <a:spLocks xmlns:a="http://schemas.openxmlformats.org/drawingml/2006/main" noGrp="1"/>
          </p:cNvSpPr>
          <p:nvPr/>
        </p:nvSpPr>
        <p:spPr>
          <a:xfrm xmlns:a="http://schemas.openxmlformats.org/drawingml/2006/main">
            <a:off x="11382375" y="2400300"/>
            <a:ext cx="1666875" cy="266700"/>
          </a:xfrm>
          <a:prstGeom xmlns:a="http://schemas.openxmlformats.org/drawingml/2006/main" prst="rect">
            <a:avLst/>
          </a:prstGeom>
          <a:solidFill xmlns:a="http://schemas.openxmlformats.org/drawingml/2006/main">
            <a:srgbClr val="070B24"/>
          </a:solidFill>
          <a:ln xmlns:a="http://schemas.openxmlformats.org/drawingml/2006/main" w="0">
            <a:noFill/>
            <a:prstDash val="solid"/>
          </a:ln>
        </p:spPr>
        <p:txBody>
          <a:bodyPr xmlns:a="http://schemas.openxmlformats.org/drawingml/2006/main" wrap="square" lIns="47625" tIns="19050" rIns="47625" bIns="19050" anchor="ctr">
            <a:normAutofit/>
          </a:bodyPr>
          <a:lstStyle xmlns:a="http://schemas.openxmlformats.org/drawingml/2006/main"/>
          <a:p xmlns:a="http://schemas.openxmlformats.org/drawingml/2006/main">
            <a:pPr algn="ctr">
              <a:buNone/>
              <a:defRPr sz="1200" b="1">
                <a:solidFill>
                  <a:srgbClr val="63E6BE"/>
                </a:solidFill>
                <a:latin typeface="Aptos"/>
                <a:ea typeface="Aptos"/>
                <a:cs typeface="Aptos"/>
              </a:defRPr>
            </a:pPr>
            <a:r>
              <a:rPr sz="1200" b="1">
                <a:solidFill>
                  <a:srgbClr val="63E6BE"/>
                </a:solidFill>
                <a:latin typeface="Aptos"/>
                <a:ea typeface="Aptos"/>
                <a:cs typeface="Aptos"/>
              </a:rPr>
              <a:t>PCM audio + tools</a:t>
            </a:r>
          </a:p>
        </p:txBody>
      </p:sp>
      <p:sp>
        <p:nvSpPr>
          <p:cNvPr id="47" name="runtime-strip">
            <a:extLst xmlns:a="http://schemas.openxmlformats.org/drawingml/2006/main">
              <a:ext uri="{FF2B5EF4-FFF2-40B4-BE49-F238E27FC236}">
                <a16:creationId xmlns:a16="http://schemas.microsoft.com/office/drawing/2014/main" id="{1B74B562-CC21-4C2A-86E5-D71A415C8556}"/>
              </a:ext>
            </a:extLst>
          </p:cNvPr>
          <p:cNvSpPr>
            <a:spLocks xmlns:a="http://schemas.openxmlformats.org/drawingml/2006/main" noGrp="1"/>
          </p:cNvSpPr>
          <p:nvPr/>
        </p:nvSpPr>
        <p:spPr>
          <a:xfrm xmlns:a="http://schemas.openxmlformats.org/drawingml/2006/main">
            <a:off x="457200" y="7848600"/>
            <a:ext cx="1432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350" b="1">
                <a:solidFill>
                  <a:srgbClr val="63E6BE"/>
                </a:solidFill>
                <a:latin typeface="Aptos"/>
                <a:ea typeface="Aptos"/>
                <a:cs typeface="Aptos"/>
              </a:defRPr>
            </a:pPr>
            <a:r>
              <a:rPr sz="1350" b="1">
                <a:solidFill>
                  <a:srgbClr val="63E6BE"/>
                </a:solidFill>
                <a:latin typeface="Aptos"/>
                <a:ea typeface="Aptos"/>
                <a:cs typeface="Aptos"/>
              </a:rPr>
              <a:t>READY  ·  3 × e2-standard-2 nodes  ·  1 LiveKit pod  ·  2 ADK workers        SLEEPING  ·  0 nodes  ·  no public media load balancers</a:t>
            </a:r>
          </a:p>
        </p:txBody>
      </p:sp>
    </p:spTree>
    <p:extLst>
      <p:ext uri="{BB962C8B-B14F-4D97-AF65-F5344CB8AC3E}">
        <p14:creationId xmlns:p14="http://schemas.microsoft.com/office/powerpoint/2010/main" val="220453430"/>
      </p:ext>
    </p:extLst>
  </p:cSld>
</p:sld>
</file>

<file path=ppt/slides/slide3.xml><?xml version="1.0" encoding="utf-8"?>
<p:sld xmlns:p="http://schemas.openxmlformats.org/presentationml/2006/main">
  <p:cSld>
    <p:bg>
      <p:bgPr>
        <a:solidFill xmlns:a="http://schemas.openxmlformats.org/drawingml/2006/main">
          <a:srgbClr val="070B24"/>
        </a:solidFill>
      </p:bgPr>
    </p:bg>
    <p:spTree>
      <p:nvGrpSpPr>
        <p:cNvPr id="1" name=""/>
        <p:cNvGrpSpPr/>
        <p:nvPr/>
      </p:nvGrpSpPr>
      <p:grpSpPr>
        <a:xfrm xmlns:a="http://schemas.openxmlformats.org/drawingml/2006/main"/>
      </p:grpSpPr>
      <p:sp>
        <p:nvSpPr>
          <p:cNvPr id="44" name="accent-2">
            <a:extLst xmlns:a="http://schemas.openxmlformats.org/drawingml/2006/main">
              <a:ext uri="{FF2B5EF4-FFF2-40B4-BE49-F238E27FC236}">
                <a16:creationId xmlns:a16="http://schemas.microsoft.com/office/drawing/2014/main" id="{A05D30C7-9768-4B6C-B4D3-B5A3664813BB}"/>
              </a:ext>
            </a:extLst>
          </p:cNvPr>
          <p:cNvSpPr>
            <a:spLocks xmlns:a="http://schemas.openxmlformats.org/drawingml/2006/main" noGrp="1"/>
          </p:cNvSpPr>
          <p:nvPr/>
        </p:nvSpPr>
        <p:spPr>
          <a:xfrm xmlns:a="http://schemas.openxmlformats.org/drawingml/2006/main">
            <a:off x="457200" y="438150"/>
            <a:ext cx="685800" cy="47625"/>
          </a:xfrm>
          <a:prstGeom xmlns:a="http://schemas.openxmlformats.org/drawingml/2006/main" prst="rect">
            <a:avLst/>
          </a:prstGeom>
          <a:solidFill xmlns:a="http://schemas.openxmlformats.org/drawingml/2006/main">
            <a:srgbClr val="63E6BE"/>
          </a:solidFill>
          <a:ln xmlns:a="http://schemas.openxmlformats.org/drawingml/2006/main" w="0">
            <a:solidFill>
              <a:srgbClr val="63E6BE"/>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title-2">
            <a:extLst xmlns:a="http://schemas.openxmlformats.org/drawingml/2006/main">
              <a:ext uri="{FF2B5EF4-FFF2-40B4-BE49-F238E27FC236}">
                <a16:creationId xmlns:a16="http://schemas.microsoft.com/office/drawing/2014/main" id="{970197F2-9276-46C8-9BA0-BE72D7BDF2F6}"/>
              </a:ext>
            </a:extLst>
          </p:cNvPr>
          <p:cNvSpPr>
            <a:spLocks xmlns:a="http://schemas.openxmlformats.org/drawingml/2006/main" noGrp="1"/>
          </p:cNvSpPr>
          <p:nvPr/>
        </p:nvSpPr>
        <p:spPr>
          <a:xfrm xmlns:a="http://schemas.openxmlformats.org/drawingml/2006/main">
            <a:off x="457200" y="619125"/>
            <a:ext cx="1123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000" b="1">
                <a:solidFill>
                  <a:srgbClr val="F8FAFC"/>
                </a:solidFill>
                <a:latin typeface="Aptos"/>
                <a:ea typeface="Aptos"/>
                <a:cs typeface="Aptos"/>
              </a:defRPr>
            </a:pPr>
            <a:r>
              <a:rPr sz="3000" b="1">
                <a:solidFill>
                  <a:srgbClr val="F8FAFC"/>
                </a:solidFill>
                <a:latin typeface="Aptos"/>
                <a:ea typeface="Aptos"/>
                <a:cs typeface="Aptos"/>
              </a:rPr>
              <a:t>RAG, memory, static media and cost stay asynchronous</a:t>
            </a:r>
          </a:p>
        </p:txBody>
      </p:sp>
      <p:sp>
        <p:nvSpPr>
          <p:cNvPr id="3" name="subtitle-2">
            <a:extLst xmlns:a="http://schemas.openxmlformats.org/drawingml/2006/main">
              <a:ext uri="{FF2B5EF4-FFF2-40B4-BE49-F238E27FC236}">
                <a16:creationId xmlns:a16="http://schemas.microsoft.com/office/drawing/2014/main" id="{BCF3CC3B-A234-427E-AC14-64386CCB5E77}"/>
              </a:ext>
            </a:extLst>
          </p:cNvPr>
          <p:cNvSpPr>
            <a:spLocks xmlns:a="http://schemas.openxmlformats.org/drawingml/2006/main" noGrp="1"/>
          </p:cNvSpPr>
          <p:nvPr/>
        </p:nvSpPr>
        <p:spPr>
          <a:xfrm xmlns:a="http://schemas.openxmlformats.org/drawingml/2006/main">
            <a:off x="476250" y="1162050"/>
            <a:ext cx="1238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50" b="0">
                <a:solidFill>
                  <a:srgbClr val="B9C3DD"/>
                </a:solidFill>
                <a:latin typeface="Aptos"/>
                <a:ea typeface="Aptos"/>
                <a:cs typeface="Aptos"/>
              </a:defRPr>
            </a:pPr>
            <a:r>
              <a:rPr sz="1350" b="0">
                <a:solidFill>
                  <a:srgbClr val="B9C3DD"/>
                </a:solidFill>
                <a:latin typeface="Aptos"/>
                <a:ea typeface="Aptos"/>
                <a:cs typeface="Aptos"/>
              </a:rPr>
              <a:t>Managed workflows add context and memory; one static Lyria asset adds ambience outside the audio path.</a:t>
            </a:r>
          </a:p>
        </p:txBody>
      </p:sp>
      <p:sp>
        <p:nvSpPr>
          <p:cNvPr id="4" name="brand-2">
            <a:extLst xmlns:a="http://schemas.openxmlformats.org/drawingml/2006/main">
              <a:ext uri="{FF2B5EF4-FFF2-40B4-BE49-F238E27FC236}">
                <a16:creationId xmlns:a16="http://schemas.microsoft.com/office/drawing/2014/main" id="{E94E3E13-64C0-4E89-B973-24FD6F993D19}"/>
              </a:ext>
            </a:extLst>
          </p:cNvPr>
          <p:cNvSpPr>
            <a:spLocks xmlns:a="http://schemas.openxmlformats.org/drawingml/2006/main" noGrp="1"/>
          </p:cNvSpPr>
          <p:nvPr/>
        </p:nvSpPr>
        <p:spPr>
          <a:xfrm xmlns:a="http://schemas.openxmlformats.org/drawingml/2006/main">
            <a:off x="12954000" y="7239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800" b="1">
                <a:solidFill>
                  <a:srgbClr val="63E6BE"/>
                </a:solidFill>
                <a:latin typeface="Aptos"/>
                <a:ea typeface="Aptos"/>
                <a:cs typeface="Aptos"/>
              </a:defRPr>
            </a:pPr>
            <a:r>
              <a:rPr sz="1800" b="1">
                <a:solidFill>
                  <a:srgbClr val="63E6BE"/>
                </a:solidFill>
                <a:latin typeface="Aptos"/>
                <a:ea typeface="Aptos"/>
                <a:cs typeface="Aptos"/>
              </a:rPr>
              <a:t>RoleCallAI</a:t>
            </a:r>
          </a:p>
        </p:txBody>
      </p:sp>
      <p:sp>
        <p:nvSpPr>
          <p:cNvPr id="5" name="rag-boundary">
            <a:extLst xmlns:a="http://schemas.openxmlformats.org/drawingml/2006/main">
              <a:ext uri="{FF2B5EF4-FFF2-40B4-BE49-F238E27FC236}">
                <a16:creationId xmlns:a16="http://schemas.microsoft.com/office/drawing/2014/main" id="{EE1627C3-F599-4ABD-86E6-E78272D9D36F}"/>
              </a:ext>
            </a:extLst>
          </p:cNvPr>
          <p:cNvSpPr>
            <a:spLocks xmlns:a="http://schemas.openxmlformats.org/drawingml/2006/main" noGrp="1"/>
          </p:cNvSpPr>
          <p:nvPr/>
        </p:nvSpPr>
        <p:spPr>
          <a:xfrm xmlns:a="http://schemas.openxmlformats.org/drawingml/2006/main">
            <a:off x="381000" y="1714500"/>
            <a:ext cx="14478000" cy="2428875"/>
          </a:xfrm>
          <a:prstGeom xmlns:a="http://schemas.openxmlformats.org/drawingml/2006/main" prst="roundRect">
            <a:avLst>
              <a:gd name="adj" fmla="val 7059"/>
            </a:avLst>
          </a:prstGeom>
          <a:solidFill xmlns:a="http://schemas.openxmlformats.org/drawingml/2006/main">
            <a:srgbClr val="0D1538"/>
          </a:solidFill>
          <a:ln xmlns:a="http://schemas.openxmlformats.org/drawingml/2006/main" w="19050">
            <a:solidFill>
              <a:srgbClr val="62CDF6"/>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ag-title">
            <a:extLst xmlns:a="http://schemas.openxmlformats.org/drawingml/2006/main">
              <a:ext uri="{FF2B5EF4-FFF2-40B4-BE49-F238E27FC236}">
                <a16:creationId xmlns:a16="http://schemas.microsoft.com/office/drawing/2014/main" id="{48BA67DB-E06A-4E7C-A8DA-B42A1540C0BE}"/>
              </a:ext>
            </a:extLst>
          </p:cNvPr>
          <p:cNvSpPr>
            <a:spLocks xmlns:a="http://schemas.openxmlformats.org/drawingml/2006/main" noGrp="1"/>
          </p:cNvSpPr>
          <p:nvPr/>
        </p:nvSpPr>
        <p:spPr>
          <a:xfrm xmlns:a="http://schemas.openxmlformats.org/drawingml/2006/main">
            <a:off x="590550" y="1809750"/>
            <a:ext cx="14058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62CDF6"/>
                </a:solidFill>
                <a:latin typeface="Aptos"/>
                <a:ea typeface="Aptos"/>
                <a:cs typeface="Aptos"/>
              </a:defRPr>
            </a:pPr>
            <a:r>
              <a:rPr sz="1425" b="1">
                <a:solidFill>
                  <a:srgbClr val="62CDF6"/>
                </a:solidFill>
                <a:latin typeface="Aptos"/>
                <a:ea typeface="Aptos"/>
                <a:cs typeface="Aptos"/>
              </a:rPr>
              <a:t>ROOM-SCOPED DOCUMENT RAG</a:t>
            </a:r>
          </a:p>
        </p:txBody>
      </p:sp>
      <p:sp>
        <p:nvSpPr>
          <p:cNvPr id="7" name="post-meeting-boundary">
            <a:extLst xmlns:a="http://schemas.openxmlformats.org/drawingml/2006/main">
              <a:ext uri="{FF2B5EF4-FFF2-40B4-BE49-F238E27FC236}">
                <a16:creationId xmlns:a16="http://schemas.microsoft.com/office/drawing/2014/main" id="{465D8693-1F1F-42FE-A303-FCCAC9B7E2FE}"/>
              </a:ext>
            </a:extLst>
          </p:cNvPr>
          <p:cNvSpPr>
            <a:spLocks xmlns:a="http://schemas.openxmlformats.org/drawingml/2006/main" noGrp="1"/>
          </p:cNvSpPr>
          <p:nvPr/>
        </p:nvSpPr>
        <p:spPr>
          <a:xfrm xmlns:a="http://schemas.openxmlformats.org/drawingml/2006/main">
            <a:off x="381000" y="4429125"/>
            <a:ext cx="14478000" cy="1952625"/>
          </a:xfrm>
          <a:prstGeom xmlns:a="http://schemas.openxmlformats.org/drawingml/2006/main" prst="roundRect">
            <a:avLst>
              <a:gd name="adj" fmla="val 8780"/>
            </a:avLst>
          </a:prstGeom>
          <a:solidFill xmlns:a="http://schemas.openxmlformats.org/drawingml/2006/main">
            <a:srgbClr val="0D1538"/>
          </a:solidFill>
          <a:ln xmlns:a="http://schemas.openxmlformats.org/drawingml/2006/main" w="19050">
            <a:solidFill>
              <a:srgbClr val="FF7D73"/>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post-meeting-title">
            <a:extLst xmlns:a="http://schemas.openxmlformats.org/drawingml/2006/main">
              <a:ext uri="{FF2B5EF4-FFF2-40B4-BE49-F238E27FC236}">
                <a16:creationId xmlns:a16="http://schemas.microsoft.com/office/drawing/2014/main" id="{F7976FD0-16EA-45E7-9420-8826D15B27C0}"/>
              </a:ext>
            </a:extLst>
          </p:cNvPr>
          <p:cNvSpPr>
            <a:spLocks xmlns:a="http://schemas.openxmlformats.org/drawingml/2006/main" noGrp="1"/>
          </p:cNvSpPr>
          <p:nvPr/>
        </p:nvSpPr>
        <p:spPr>
          <a:xfrm xmlns:a="http://schemas.openxmlformats.org/drawingml/2006/main">
            <a:off x="590550" y="4524375"/>
            <a:ext cx="14058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FF7D73"/>
                </a:solidFill>
                <a:latin typeface="Aptos"/>
                <a:ea typeface="Aptos"/>
                <a:cs typeface="Aptos"/>
              </a:defRPr>
            </a:pPr>
            <a:r>
              <a:rPr sz="1425" b="1">
                <a:solidFill>
                  <a:srgbClr val="FF7D73"/>
                </a:solidFill>
                <a:latin typeface="Aptos"/>
                <a:ea typeface="Aptos"/>
                <a:cs typeface="Aptos"/>
              </a:rPr>
              <a:t>POST-MEETING RECAP + MEMORY</a:t>
            </a:r>
          </a:p>
        </p:txBody>
      </p:sp>
      <p:sp>
        <p:nvSpPr>
          <p:cNvPr id="9" name="cost-control-boundary">
            <a:extLst xmlns:a="http://schemas.openxmlformats.org/drawingml/2006/main">
              <a:ext uri="{FF2B5EF4-FFF2-40B4-BE49-F238E27FC236}">
                <a16:creationId xmlns:a16="http://schemas.microsoft.com/office/drawing/2014/main" id="{23E5CB91-44E6-4A1F-A96F-0A8F320AA2E1}"/>
              </a:ext>
            </a:extLst>
          </p:cNvPr>
          <p:cNvSpPr>
            <a:spLocks xmlns:a="http://schemas.openxmlformats.org/drawingml/2006/main" noGrp="1"/>
          </p:cNvSpPr>
          <p:nvPr/>
        </p:nvSpPr>
        <p:spPr>
          <a:xfrm xmlns:a="http://schemas.openxmlformats.org/drawingml/2006/main">
            <a:off x="381000" y="6334125"/>
            <a:ext cx="14478000" cy="1905000"/>
          </a:xfrm>
          <a:prstGeom xmlns:a="http://schemas.openxmlformats.org/drawingml/2006/main" prst="roundRect">
            <a:avLst>
              <a:gd name="adj" fmla="val 9000"/>
            </a:avLst>
          </a:prstGeom>
          <a:solidFill xmlns:a="http://schemas.openxmlformats.org/drawingml/2006/main">
            <a:srgbClr val="0D1538"/>
          </a:solidFill>
          <a:ln xmlns:a="http://schemas.openxmlformats.org/drawingml/2006/main" w="19050">
            <a:solidFill>
              <a:srgbClr val="FBBF7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st-control-title">
            <a:extLst xmlns:a="http://schemas.openxmlformats.org/drawingml/2006/main">
              <a:ext uri="{FF2B5EF4-FFF2-40B4-BE49-F238E27FC236}">
                <a16:creationId xmlns:a16="http://schemas.microsoft.com/office/drawing/2014/main" id="{3E9C90E3-6F0E-4BEE-886A-9B905C89FDFE}"/>
              </a:ext>
            </a:extLst>
          </p:cNvPr>
          <p:cNvSpPr>
            <a:spLocks xmlns:a="http://schemas.openxmlformats.org/drawingml/2006/main" noGrp="1"/>
          </p:cNvSpPr>
          <p:nvPr/>
        </p:nvSpPr>
        <p:spPr>
          <a:xfrm xmlns:a="http://schemas.openxmlformats.org/drawingml/2006/main">
            <a:off x="590550" y="6429375"/>
            <a:ext cx="14058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FBBF74"/>
                </a:solidFill>
                <a:latin typeface="Aptos"/>
                <a:ea typeface="Aptos"/>
                <a:cs typeface="Aptos"/>
              </a:defRPr>
            </a:pPr>
            <a:r>
              <a:rPr sz="1425" b="1">
                <a:solidFill>
                  <a:srgbClr val="FBBF74"/>
                </a:solidFill>
                <a:latin typeface="Aptos"/>
                <a:ea typeface="Aptos"/>
                <a:cs typeface="Aptos"/>
              </a:rPr>
              <a:t>AUTOMATIC COST + STATIC MEDIA</a:t>
            </a:r>
          </a:p>
        </p:txBody>
      </p:sp>
      <p:sp>
        <p:nvSpPr>
          <p:cNvPr id="11" name="authenticated-upload">
            <a:extLst xmlns:a="http://schemas.openxmlformats.org/drawingml/2006/main">
              <a:ext uri="{FF2B5EF4-FFF2-40B4-BE49-F238E27FC236}">
                <a16:creationId xmlns:a16="http://schemas.microsoft.com/office/drawing/2014/main" id="{FE4C9783-C274-4A5F-A30D-5AF3F4B6C7EF}"/>
              </a:ext>
            </a:extLst>
          </p:cNvPr>
          <p:cNvSpPr>
            <a:spLocks xmlns:a="http://schemas.openxmlformats.org/drawingml/2006/main" noGrp="1"/>
          </p:cNvSpPr>
          <p:nvPr/>
        </p:nvSpPr>
        <p:spPr>
          <a:xfrm xmlns:a="http://schemas.openxmlformats.org/drawingml/2006/main">
            <a:off x="666750" y="2476500"/>
            <a:ext cx="1524000"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76380"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Authenticated upload</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PDF · DOCX · PPTX
TXT · Markdown</a:t>
            </a:r>
          </a:p>
        </p:txBody>
      </p:sp>
      <p:sp>
        <p:nvSpPr>
          <p:cNvPr id="12" name="gcs-originals">
            <a:extLst xmlns:a="http://schemas.openxmlformats.org/drawingml/2006/main">
              <a:ext uri="{FF2B5EF4-FFF2-40B4-BE49-F238E27FC236}">
                <a16:creationId xmlns:a16="http://schemas.microsoft.com/office/drawing/2014/main" id="{D693DA88-20D5-46B8-942E-886E363531AA}"/>
              </a:ext>
            </a:extLst>
          </p:cNvPr>
          <p:cNvSpPr>
            <a:spLocks xmlns:a="http://schemas.openxmlformats.org/drawingml/2006/main" noGrp="1"/>
          </p:cNvSpPr>
          <p:nvPr/>
        </p:nvSpPr>
        <p:spPr>
          <a:xfrm xmlns:a="http://schemas.openxmlformats.org/drawingml/2006/main">
            <a:off x="2571750" y="2476500"/>
            <a:ext cx="1524000"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86187"/>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Cloud Storage</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Private originals</a:t>
            </a:r>
          </a:p>
        </p:txBody>
      </p:sp>
      <p:sp>
        <p:nvSpPr>
          <p:cNvPr id="13" name="pubsub-index">
            <a:extLst xmlns:a="http://schemas.openxmlformats.org/drawingml/2006/main">
              <a:ext uri="{FF2B5EF4-FFF2-40B4-BE49-F238E27FC236}">
                <a16:creationId xmlns:a16="http://schemas.microsoft.com/office/drawing/2014/main" id="{17010E7B-E3CA-4371-9C19-39D1725ABB85}"/>
              </a:ext>
            </a:extLst>
          </p:cNvPr>
          <p:cNvSpPr>
            <a:spLocks xmlns:a="http://schemas.openxmlformats.org/drawingml/2006/main" noGrp="1"/>
          </p:cNvSpPr>
          <p:nvPr/>
        </p:nvSpPr>
        <p:spPr>
          <a:xfrm xmlns:a="http://schemas.openxmlformats.org/drawingml/2006/main">
            <a:off x="4476750" y="2476500"/>
            <a:ext cx="1428750"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FF7D73"/>
            </a:solidFill>
            <a:prstDash val="solid"/>
          </a:ln>
        </p:spPr>
        <p:txBody>
          <a:bodyPr xmlns:a="http://schemas.openxmlformats.org/drawingml/2006/main" wrap="square" lIns="95250" tIns="76200" rIns="95250" bIns="76200" anchor="ctr">
            <a:normAutofit fontScale="97501"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Pub/Sub</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Index event + retries</a:t>
            </a:r>
          </a:p>
        </p:txBody>
      </p:sp>
      <p:sp>
        <p:nvSpPr>
          <p:cNvPr id="14" name="cloud-run-indexer">
            <a:extLst xmlns:a="http://schemas.openxmlformats.org/drawingml/2006/main">
              <a:ext uri="{FF2B5EF4-FFF2-40B4-BE49-F238E27FC236}">
                <a16:creationId xmlns:a16="http://schemas.microsoft.com/office/drawing/2014/main" id="{7371BF32-1925-4338-96C4-CC60B340B10A}"/>
              </a:ext>
            </a:extLst>
          </p:cNvPr>
          <p:cNvSpPr>
            <a:spLocks xmlns:a="http://schemas.openxmlformats.org/drawingml/2006/main" noGrp="1"/>
          </p:cNvSpPr>
          <p:nvPr/>
        </p:nvSpPr>
        <p:spPr>
          <a:xfrm xmlns:a="http://schemas.openxmlformats.org/drawingml/2006/main">
            <a:off x="6286500" y="2476500"/>
            <a:ext cx="1714500"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FF7D73"/>
            </a:solidFill>
            <a:prstDash val="solid"/>
          </a:ln>
        </p:spPr>
        <p:txBody>
          <a:bodyPr xmlns:a="http://schemas.openxmlformats.org/drawingml/2006/main" wrap="square" lIns="95250" tIns="76200" rIns="95250" bIns="76200" anchor="ctr">
            <a:normAutofit fontScale="78537"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Cloud Run indexer</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Validate · extract · chunk</a:t>
            </a:r>
          </a:p>
        </p:txBody>
      </p:sp>
      <p:sp>
        <p:nvSpPr>
          <p:cNvPr id="15" name="vertex-embedding">
            <a:extLst xmlns:a="http://schemas.openxmlformats.org/drawingml/2006/main">
              <a:ext uri="{FF2B5EF4-FFF2-40B4-BE49-F238E27FC236}">
                <a16:creationId xmlns:a16="http://schemas.microsoft.com/office/drawing/2014/main" id="{34301B91-C7AF-485F-AFF2-C98C48CF6705}"/>
              </a:ext>
            </a:extLst>
          </p:cNvPr>
          <p:cNvSpPr>
            <a:spLocks xmlns:a="http://schemas.openxmlformats.org/drawingml/2006/main" noGrp="1"/>
          </p:cNvSpPr>
          <p:nvPr/>
        </p:nvSpPr>
        <p:spPr>
          <a:xfrm xmlns:a="http://schemas.openxmlformats.org/drawingml/2006/main">
            <a:off x="8382000" y="2476500"/>
            <a:ext cx="1809750"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63E6BE"/>
            </a:solidFill>
            <a:prstDash val="solid"/>
          </a:ln>
        </p:spPr>
        <p:txBody>
          <a:bodyPr xmlns:a="http://schemas.openxmlformats.org/drawingml/2006/main" wrap="square" lIns="95250" tIns="76200" rIns="95250" bIns="76200" anchor="ctr">
            <a:normAutofit fontScale="64245"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Vertex AI embeddings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gemini-</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embedding-001</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768 dimensions</a:t>
            </a:r>
          </a:p>
        </p:txBody>
      </p:sp>
      <p:sp>
        <p:nvSpPr>
          <p:cNvPr id="16" name="firestore-vectors">
            <a:extLst xmlns:a="http://schemas.openxmlformats.org/drawingml/2006/main">
              <a:ext uri="{FF2B5EF4-FFF2-40B4-BE49-F238E27FC236}">
                <a16:creationId xmlns:a16="http://schemas.microsoft.com/office/drawing/2014/main" id="{BCD82122-1571-4E60-92F7-844860983CFE}"/>
              </a:ext>
            </a:extLst>
          </p:cNvPr>
          <p:cNvSpPr>
            <a:spLocks xmlns:a="http://schemas.openxmlformats.org/drawingml/2006/main" noGrp="1"/>
          </p:cNvSpPr>
          <p:nvPr/>
        </p:nvSpPr>
        <p:spPr>
          <a:xfrm xmlns:a="http://schemas.openxmlformats.org/drawingml/2006/main">
            <a:off x="10572750" y="2476500"/>
            <a:ext cx="1905000"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78537"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Firestore vector index</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Room + ready-version scoped</a:t>
            </a:r>
          </a:p>
        </p:txBody>
      </p:sp>
      <p:sp>
        <p:nvSpPr>
          <p:cNvPr id="17" name="search-tool">
            <a:extLst xmlns:a="http://schemas.openxmlformats.org/drawingml/2006/main">
              <a:ext uri="{FF2B5EF4-FFF2-40B4-BE49-F238E27FC236}">
                <a16:creationId xmlns:a16="http://schemas.microsoft.com/office/drawing/2014/main" id="{F0FFEFF1-079F-4C1C-980C-06606A79D2C3}"/>
              </a:ext>
            </a:extLst>
          </p:cNvPr>
          <p:cNvSpPr>
            <a:spLocks xmlns:a="http://schemas.openxmlformats.org/drawingml/2006/main" noGrp="1"/>
          </p:cNvSpPr>
          <p:nvPr/>
        </p:nvSpPr>
        <p:spPr>
          <a:xfrm xmlns:a="http://schemas.openxmlformats.org/drawingml/2006/main">
            <a:off x="12858750" y="2476500"/>
            <a:ext cx="1714500" cy="1000125"/>
          </a:xfrm>
          <a:prstGeom xmlns:a="http://schemas.openxmlformats.org/drawingml/2006/main" prst="roundRect">
            <a:avLst>
              <a:gd name="adj" fmla="val 15238"/>
            </a:avLst>
          </a:prstGeom>
          <a:solidFill xmlns:a="http://schemas.openxmlformats.org/drawingml/2006/main">
            <a:srgbClr val="111A43"/>
          </a:solidFill>
          <a:ln xmlns:a="http://schemas.openxmlformats.org/drawingml/2006/main" w="19050">
            <a:solidFill>
              <a:srgbClr val="FF7D73"/>
            </a:solidFill>
            <a:prstDash val="solid"/>
          </a:ln>
        </p:spPr>
        <p:txBody>
          <a:bodyPr xmlns:a="http://schemas.openxmlformats.org/drawingml/2006/main" wrap="square" lIns="95250" tIns="76200" rIns="95250" bIns="76200" anchor="ctr">
            <a:normAutofit fontScale="83721" lnSpcReduction="20000"/>
          </a:bodyPr>
          <a:lstStyle xmlns:a="http://schemas.openxmlformats.org/drawingml/2006/main"/>
          <a:p xmlns:a="http://schemas.openxmlformats.org/drawingml/2006/main">
            <a:pPr algn="ctr">
              <a:spcAft>
                <a:spcPts val="5"/>
              </a:spcAft>
              <a:buNone/>
              <a:defRPr>
                <a:latin typeface="Aptos"/>
                <a:ea typeface="Aptos"/>
                <a:cs typeface="Aptos"/>
              </a:defRPr>
            </a:pPr>
            <a:r>
              <a:rPr sz="1600" b="1">
                <a:solidFill>
                  <a:srgbClr val="F8FAFC"/>
                </a:solidFill>
                <a:latin typeface="Aptos"/>
                <a:ea typeface="Aptos"/>
                <a:cs typeface="Aptos"/>
              </a:rPr>
              <a:t>ADK retrieval tool</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Room-scoped excerpts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 citations</a:t>
            </a:r>
          </a:p>
        </p:txBody>
      </p:sp>
      <p:sp>
        <p:nvSpPr>
          <p:cNvPr id="18" name="final-transcript">
            <a:extLst xmlns:a="http://schemas.openxmlformats.org/drawingml/2006/main">
              <a:ext uri="{FF2B5EF4-FFF2-40B4-BE49-F238E27FC236}">
                <a16:creationId xmlns:a16="http://schemas.microsoft.com/office/drawing/2014/main" id="{D9B440ED-C5E3-49BE-9035-358D017AAA45}"/>
              </a:ext>
            </a:extLst>
          </p:cNvPr>
          <p:cNvSpPr>
            <a:spLocks xmlns:a="http://schemas.openxmlformats.org/drawingml/2006/main" noGrp="1"/>
          </p:cNvSpPr>
          <p:nvPr/>
        </p:nvSpPr>
        <p:spPr>
          <a:xfrm xmlns:a="http://schemas.openxmlformats.org/drawingml/2006/main">
            <a:off x="666750" y="5095875"/>
            <a:ext cx="1666875" cy="904875"/>
          </a:xfrm>
          <a:prstGeom xmlns:a="http://schemas.openxmlformats.org/drawingml/2006/main" prst="roundRect">
            <a:avLst>
              <a:gd name="adj" fmla="val 16842"/>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87744" lnSpcReduction="2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Final transcript</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No raw audio persisted</a:t>
            </a:r>
          </a:p>
        </p:txBody>
      </p:sp>
      <p:sp>
        <p:nvSpPr>
          <p:cNvPr id="19" name="pubsub-post">
            <a:extLst xmlns:a="http://schemas.openxmlformats.org/drawingml/2006/main">
              <a:ext uri="{FF2B5EF4-FFF2-40B4-BE49-F238E27FC236}">
                <a16:creationId xmlns:a16="http://schemas.microsoft.com/office/drawing/2014/main" id="{D78DF023-D2EF-4EBB-82EC-ED4A04F8B4D9}"/>
              </a:ext>
            </a:extLst>
          </p:cNvPr>
          <p:cNvSpPr>
            <a:spLocks xmlns:a="http://schemas.openxmlformats.org/drawingml/2006/main" noGrp="1"/>
          </p:cNvSpPr>
          <p:nvPr/>
        </p:nvSpPr>
        <p:spPr>
          <a:xfrm xmlns:a="http://schemas.openxmlformats.org/drawingml/2006/main">
            <a:off x="2857500" y="5095875"/>
            <a:ext cx="1476375" cy="904875"/>
          </a:xfrm>
          <a:prstGeom xmlns:a="http://schemas.openxmlformats.org/drawingml/2006/main" prst="roundRect">
            <a:avLst>
              <a:gd name="adj" fmla="val 16842"/>
            </a:avLst>
          </a:prstGeom>
          <a:solidFill xmlns:a="http://schemas.openxmlformats.org/drawingml/2006/main">
            <a:srgbClr val="111A43"/>
          </a:solidFill>
          <a:ln xmlns:a="http://schemas.openxmlformats.org/drawingml/2006/main" w="19050">
            <a:solidFill>
              <a:srgbClr val="FF7D73"/>
            </a:solidFill>
            <a:prstDash val="solid"/>
          </a:ln>
        </p:spPr>
        <p:txBody>
          <a:bodyPr xmlns:a="http://schemas.openxmlformats.org/drawingml/2006/main" wrap="square" lIns="95250" tIns="76200" rIns="95250" bIns="76200" anchor="ctr">
            <a:normAutofit fontScale="85246"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Pub/Sub</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Completion event</a:t>
            </a:r>
          </a:p>
        </p:txBody>
      </p:sp>
      <p:sp>
        <p:nvSpPr>
          <p:cNvPr id="20" name="postprocessor">
            <a:extLst xmlns:a="http://schemas.openxmlformats.org/drawingml/2006/main">
              <a:ext uri="{FF2B5EF4-FFF2-40B4-BE49-F238E27FC236}">
                <a16:creationId xmlns:a16="http://schemas.microsoft.com/office/drawing/2014/main" id="{6DA738EE-BDBB-4635-8938-89732A81B333}"/>
              </a:ext>
            </a:extLst>
          </p:cNvPr>
          <p:cNvSpPr>
            <a:spLocks xmlns:a="http://schemas.openxmlformats.org/drawingml/2006/main" noGrp="1"/>
          </p:cNvSpPr>
          <p:nvPr/>
        </p:nvSpPr>
        <p:spPr>
          <a:xfrm xmlns:a="http://schemas.openxmlformats.org/drawingml/2006/main">
            <a:off x="4857750" y="5095875"/>
            <a:ext cx="1857375" cy="904875"/>
          </a:xfrm>
          <a:prstGeom xmlns:a="http://schemas.openxmlformats.org/drawingml/2006/main" prst="roundRect">
            <a:avLst>
              <a:gd name="adj" fmla="val 16842"/>
            </a:avLst>
          </a:prstGeom>
          <a:solidFill xmlns:a="http://schemas.openxmlformats.org/drawingml/2006/main">
            <a:srgbClr val="111A43"/>
          </a:solidFill>
          <a:ln xmlns:a="http://schemas.openxmlformats.org/drawingml/2006/main" w="19050">
            <a:solidFill>
              <a:srgbClr val="FF7D73"/>
            </a:solidFill>
            <a:prstDash val="solid"/>
          </a:ln>
        </p:spPr>
        <p:txBody>
          <a:bodyPr xmlns:a="http://schemas.openxmlformats.org/drawingml/2006/main" wrap="square" lIns="95250" tIns="76200" rIns="95250" bIns="76200" anchor="ctr">
            <a:normAutofit fontScale="88010"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Cloud Run postprocessor</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Normalize + validate</a:t>
            </a:r>
          </a:p>
        </p:txBody>
      </p:sp>
      <p:sp>
        <p:nvSpPr>
          <p:cNvPr id="21" name="gemini-summary">
            <a:extLst xmlns:a="http://schemas.openxmlformats.org/drawingml/2006/main">
              <a:ext uri="{FF2B5EF4-FFF2-40B4-BE49-F238E27FC236}">
                <a16:creationId xmlns:a16="http://schemas.microsoft.com/office/drawing/2014/main" id="{D0901843-B568-43EA-8D88-AF5430E928F0}"/>
              </a:ext>
            </a:extLst>
          </p:cNvPr>
          <p:cNvSpPr>
            <a:spLocks xmlns:a="http://schemas.openxmlformats.org/drawingml/2006/main" noGrp="1"/>
          </p:cNvSpPr>
          <p:nvPr/>
        </p:nvSpPr>
        <p:spPr>
          <a:xfrm xmlns:a="http://schemas.openxmlformats.org/drawingml/2006/main">
            <a:off x="7239000" y="5095875"/>
            <a:ext cx="1666875" cy="904875"/>
          </a:xfrm>
          <a:prstGeom xmlns:a="http://schemas.openxmlformats.org/drawingml/2006/main" prst="roundRect">
            <a:avLst>
              <a:gd name="adj" fmla="val 16842"/>
            </a:avLst>
          </a:prstGeom>
          <a:solidFill xmlns:a="http://schemas.openxmlformats.org/drawingml/2006/main">
            <a:srgbClr val="111A43"/>
          </a:solidFill>
          <a:ln xmlns:a="http://schemas.openxmlformats.org/drawingml/2006/main" w="19050">
            <a:solidFill>
              <a:srgbClr val="63E6BE"/>
            </a:solidFill>
            <a:prstDash val="solid"/>
          </a:ln>
        </p:spPr>
        <p:txBody>
          <a:bodyPr xmlns:a="http://schemas.openxmlformats.org/drawingml/2006/main" wrap="square" lIns="95250" tIns="76200" rIns="95250" bIns="76200" anchor="ctr">
            <a:normAutofit fontScale="88010"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Gemini 3.7 Flash</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Structured recap</a:t>
            </a:r>
          </a:p>
        </p:txBody>
      </p:sp>
      <p:sp>
        <p:nvSpPr>
          <p:cNvPr id="22" name="firestore-recap">
            <a:extLst xmlns:a="http://schemas.openxmlformats.org/drawingml/2006/main">
              <a:ext uri="{FF2B5EF4-FFF2-40B4-BE49-F238E27FC236}">
                <a16:creationId xmlns:a16="http://schemas.microsoft.com/office/drawing/2014/main" id="{3092D332-A964-4713-9C5C-DCC5FAB74E20}"/>
              </a:ext>
            </a:extLst>
          </p:cNvPr>
          <p:cNvSpPr>
            <a:spLocks xmlns:a="http://schemas.openxmlformats.org/drawingml/2006/main" noGrp="1"/>
          </p:cNvSpPr>
          <p:nvPr/>
        </p:nvSpPr>
        <p:spPr>
          <a:xfrm xmlns:a="http://schemas.openxmlformats.org/drawingml/2006/main">
            <a:off x="9429750" y="5095875"/>
            <a:ext cx="1905000" cy="904875"/>
          </a:xfrm>
          <a:prstGeom xmlns:a="http://schemas.openxmlformats.org/drawingml/2006/main" prst="roundRect">
            <a:avLst>
              <a:gd name="adj" fmla="val 16842"/>
            </a:avLst>
          </a:prstGeom>
          <a:solidFill xmlns:a="http://schemas.openxmlformats.org/drawingml/2006/main">
            <a:srgbClr val="111A43"/>
          </a:solidFill>
          <a:ln xmlns:a="http://schemas.openxmlformats.org/drawingml/2006/main" w="19050">
            <a:solidFill>
              <a:srgbClr val="62CDF6"/>
            </a:solidFill>
            <a:prstDash val="solid"/>
          </a:ln>
        </p:spPr>
        <p:txBody>
          <a:bodyPr xmlns:a="http://schemas.openxmlformats.org/drawingml/2006/main" wrap="square" lIns="95250" tIns="76200" rIns="95250" bIns="76200" anchor="ctr">
            <a:normAutofit fontScale="85246"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Firestore recap</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Actions · blockers · citations</a:t>
            </a:r>
          </a:p>
        </p:txBody>
      </p:sp>
      <p:sp>
        <p:nvSpPr>
          <p:cNvPr id="23" name="memory-facts">
            <a:extLst xmlns:a="http://schemas.openxmlformats.org/drawingml/2006/main">
              <a:ext uri="{FF2B5EF4-FFF2-40B4-BE49-F238E27FC236}">
                <a16:creationId xmlns:a16="http://schemas.microsoft.com/office/drawing/2014/main" id="{FBBE6D63-9CDC-47AD-ADD6-DB58A367D4EA}"/>
              </a:ext>
            </a:extLst>
          </p:cNvPr>
          <p:cNvSpPr>
            <a:spLocks xmlns:a="http://schemas.openxmlformats.org/drawingml/2006/main" noGrp="1"/>
          </p:cNvSpPr>
          <p:nvPr/>
        </p:nvSpPr>
        <p:spPr>
          <a:xfrm xmlns:a="http://schemas.openxmlformats.org/drawingml/2006/main">
            <a:off x="11858625" y="5095875"/>
            <a:ext cx="1905000" cy="904875"/>
          </a:xfrm>
          <a:prstGeom xmlns:a="http://schemas.openxmlformats.org/drawingml/2006/main" prst="roundRect">
            <a:avLst>
              <a:gd name="adj" fmla="val 16842"/>
            </a:avLst>
          </a:prstGeom>
          <a:solidFill xmlns:a="http://schemas.openxmlformats.org/drawingml/2006/main">
            <a:srgbClr val="111A43"/>
          </a:solidFill>
          <a:ln xmlns:a="http://schemas.openxmlformats.org/drawingml/2006/main" w="19050">
            <a:solidFill>
              <a:srgbClr val="63E6BE"/>
            </a:solidFill>
            <a:prstDash val="solid"/>
          </a:ln>
        </p:spPr>
        <p:txBody>
          <a:bodyPr xmlns:a="http://schemas.openxmlformats.org/drawingml/2006/main" wrap="square" lIns="95250" tIns="76200" rIns="95250" bIns="76200" anchor="ctr">
            <a:normAutofit fontScale="85246"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900" b="1">
                <a:solidFill>
                  <a:srgbClr val="F8FAFC"/>
                </a:solidFill>
                <a:latin typeface="Aptos"/>
                <a:ea typeface="Aptos"/>
                <a:cs typeface="Aptos"/>
              </a:rPr>
              <a:t>Memory Bank</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Decisions + commitments</a:t>
            </a:r>
          </a:p>
        </p:txBody>
      </p:sp>
      <p:sp>
        <p:nvSpPr>
          <p:cNvPr id="24" name="scheduler">
            <a:extLst xmlns:a="http://schemas.openxmlformats.org/drawingml/2006/main">
              <a:ext uri="{FF2B5EF4-FFF2-40B4-BE49-F238E27FC236}">
                <a16:creationId xmlns:a16="http://schemas.microsoft.com/office/drawing/2014/main" id="{E8871137-53D7-470C-84D8-3A1EEC0DBAED}"/>
              </a:ext>
            </a:extLst>
          </p:cNvPr>
          <p:cNvSpPr>
            <a:spLocks xmlns:a="http://schemas.openxmlformats.org/drawingml/2006/main" noGrp="1"/>
          </p:cNvSpPr>
          <p:nvPr/>
        </p:nvSpPr>
        <p:spPr>
          <a:xfrm xmlns:a="http://schemas.openxmlformats.org/drawingml/2006/main">
            <a:off x="666750" y="6810375"/>
            <a:ext cx="1905000" cy="619125"/>
          </a:xfrm>
          <a:prstGeom xmlns:a="http://schemas.openxmlformats.org/drawingml/2006/main" prst="roundRect">
            <a:avLst>
              <a:gd name="adj" fmla="val 24615"/>
            </a:avLst>
          </a:prstGeom>
          <a:solidFill xmlns:a="http://schemas.openxmlformats.org/drawingml/2006/main">
            <a:srgbClr val="111A43"/>
          </a:solidFill>
          <a:ln xmlns:a="http://schemas.openxmlformats.org/drawingml/2006/main" w="19050">
            <a:solidFill>
              <a:srgbClr val="FBBF74"/>
            </a:solidFill>
            <a:prstDash val="solid"/>
          </a:ln>
        </p:spPr>
        <p:txBody>
          <a:bodyPr xmlns:a="http://schemas.openxmlformats.org/drawingml/2006/main" wrap="square" lIns="95250" tIns="76200" rIns="95250" bIns="76200" anchor="ctr">
            <a:normAutofit fontScale="74926"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700" b="1">
                <a:solidFill>
                  <a:srgbClr val="F8FAFC"/>
                </a:solidFill>
                <a:latin typeface="Aptos"/>
                <a:ea typeface="Aptos"/>
                <a:cs typeface="Aptos"/>
              </a:rPr>
              <a:t>Cloud Scheduler</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5-minute idle check</a:t>
            </a:r>
          </a:p>
        </p:txBody>
      </p:sp>
      <p:sp>
        <p:nvSpPr>
          <p:cNvPr id="25" name="admin-wake">
            <a:extLst xmlns:a="http://schemas.openxmlformats.org/drawingml/2006/main">
              <a:ext uri="{FF2B5EF4-FFF2-40B4-BE49-F238E27FC236}">
                <a16:creationId xmlns:a16="http://schemas.microsoft.com/office/drawing/2014/main" id="{342E3688-FAD9-490C-AE66-099576E5A827}"/>
              </a:ext>
            </a:extLst>
          </p:cNvPr>
          <p:cNvSpPr>
            <a:spLocks xmlns:a="http://schemas.openxmlformats.org/drawingml/2006/main" noGrp="1"/>
          </p:cNvSpPr>
          <p:nvPr/>
        </p:nvSpPr>
        <p:spPr>
          <a:xfrm xmlns:a="http://schemas.openxmlformats.org/drawingml/2006/main">
            <a:off x="666750" y="7543800"/>
            <a:ext cx="1905000" cy="619125"/>
          </a:xfrm>
          <a:prstGeom xmlns:a="http://schemas.openxmlformats.org/drawingml/2006/main" prst="roundRect">
            <a:avLst>
              <a:gd name="adj" fmla="val 24615"/>
            </a:avLst>
          </a:prstGeom>
          <a:solidFill xmlns:a="http://schemas.openxmlformats.org/drawingml/2006/main">
            <a:srgbClr val="111A43"/>
          </a:solidFill>
          <a:ln xmlns:a="http://schemas.openxmlformats.org/drawingml/2006/main" w="19050">
            <a:solidFill>
              <a:srgbClr val="63E6BE"/>
            </a:solidFill>
            <a:prstDash val="solid"/>
          </a:ln>
        </p:spPr>
        <p:txBody>
          <a:bodyPr xmlns:a="http://schemas.openxmlformats.org/drawingml/2006/main" wrap="square" lIns="95250" tIns="76200" rIns="95250" bIns="76200" anchor="ctr">
            <a:normAutofit fontScale="74926"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700" b="1">
                <a:solidFill>
                  <a:srgbClr val="F8FAFC"/>
                </a:solidFill>
                <a:latin typeface="Aptos"/>
                <a:ea typeface="Aptos"/>
                <a:cs typeface="Aptos"/>
              </a:rPr>
              <a:t>Admin Wake</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Authenticated only</a:t>
            </a:r>
          </a:p>
        </p:txBody>
      </p:sp>
      <p:sp>
        <p:nvSpPr>
          <p:cNvPr id="26" name="runtime-jobs">
            <a:extLst xmlns:a="http://schemas.openxmlformats.org/drawingml/2006/main">
              <a:ext uri="{FF2B5EF4-FFF2-40B4-BE49-F238E27FC236}">
                <a16:creationId xmlns:a16="http://schemas.microsoft.com/office/drawing/2014/main" id="{F3EAD223-2489-4737-81D4-29270382C4B7}"/>
              </a:ext>
            </a:extLst>
          </p:cNvPr>
          <p:cNvSpPr>
            <a:spLocks xmlns:a="http://schemas.openxmlformats.org/drawingml/2006/main" noGrp="1"/>
          </p:cNvSpPr>
          <p:nvPr/>
        </p:nvSpPr>
        <p:spPr>
          <a:xfrm xmlns:a="http://schemas.openxmlformats.org/drawingml/2006/main">
            <a:off x="3238500" y="7143750"/>
            <a:ext cx="2095500" cy="762000"/>
          </a:xfrm>
          <a:prstGeom xmlns:a="http://schemas.openxmlformats.org/drawingml/2006/main" prst="roundRect">
            <a:avLst>
              <a:gd name="adj" fmla="val 20000"/>
            </a:avLst>
          </a:prstGeom>
          <a:solidFill xmlns:a="http://schemas.openxmlformats.org/drawingml/2006/main">
            <a:srgbClr val="111A43"/>
          </a:solidFill>
          <a:ln xmlns:a="http://schemas.openxmlformats.org/drawingml/2006/main" w="19050">
            <a:solidFill>
              <a:srgbClr val="FF7D73"/>
            </a:solidFill>
            <a:prstDash val="solid"/>
          </a:ln>
        </p:spPr>
        <p:txBody>
          <a:bodyPr xmlns:a="http://schemas.openxmlformats.org/drawingml/2006/main" wrap="square" lIns="95250" tIns="76200" rIns="95250" bIns="76200" anchor="ctr">
            <a:normAutofit fontScale="85226" lnSpcReduction="20000"/>
          </a:bodyPr>
          <a:lstStyle xmlns:a="http://schemas.openxmlformats.org/drawingml/2006/main"/>
          <a:p xmlns:a="http://schemas.openxmlformats.org/drawingml/2006/main">
            <a:pPr algn="ctr">
              <a:spcAft>
                <a:spcPts val="5"/>
              </a:spcAft>
              <a:buNone/>
              <a:defRPr>
                <a:latin typeface="Aptos"/>
                <a:ea typeface="Aptos"/>
                <a:cs typeface="Aptos"/>
              </a:defRPr>
            </a:pPr>
            <a:r>
              <a:rPr sz="1700" b="1">
                <a:solidFill>
                  <a:srgbClr val="F8FAFC"/>
                </a:solidFill>
                <a:latin typeface="Aptos"/>
                <a:ea typeface="Aptos"/>
                <a:cs typeface="Aptos"/>
              </a:rPr>
              <a:t>Cloud Run Jobs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Guarded wake + suspend</a:t>
            </a:r>
          </a:p>
        </p:txBody>
      </p:sp>
      <p:sp>
        <p:nvSpPr>
          <p:cNvPr id="27" name="gke-runtime">
            <a:extLst xmlns:a="http://schemas.openxmlformats.org/drawingml/2006/main">
              <a:ext uri="{FF2B5EF4-FFF2-40B4-BE49-F238E27FC236}">
                <a16:creationId xmlns:a16="http://schemas.microsoft.com/office/drawing/2014/main" id="{126FF31D-06DF-42F9-BFA0-FA2F762B3C1A}"/>
              </a:ext>
            </a:extLst>
          </p:cNvPr>
          <p:cNvSpPr>
            <a:spLocks xmlns:a="http://schemas.openxmlformats.org/drawingml/2006/main" noGrp="1"/>
          </p:cNvSpPr>
          <p:nvPr/>
        </p:nvSpPr>
        <p:spPr>
          <a:xfrm xmlns:a="http://schemas.openxmlformats.org/drawingml/2006/main">
            <a:off x="6191250" y="7143750"/>
            <a:ext cx="2476500" cy="762000"/>
          </a:xfrm>
          <a:prstGeom xmlns:a="http://schemas.openxmlformats.org/drawingml/2006/main" prst="roundRect">
            <a:avLst>
              <a:gd name="adj" fmla="val 20000"/>
            </a:avLst>
          </a:prstGeom>
          <a:solidFill xmlns:a="http://schemas.openxmlformats.org/drawingml/2006/main">
            <a:srgbClr val="111A43"/>
          </a:solidFill>
          <a:ln xmlns:a="http://schemas.openxmlformats.org/drawingml/2006/main" w="19050">
            <a:solidFill>
              <a:srgbClr val="8B7CFF"/>
            </a:solidFill>
            <a:prstDash val="solid"/>
          </a:ln>
        </p:spPr>
        <p:txBody>
          <a:bodyPr xmlns:a="http://schemas.openxmlformats.org/drawingml/2006/main" wrap="square" lIns="95250" tIns="76200" rIns="95250" bIns="76200" anchor="ctr">
            <a:normAutofit fontScale="77093" lnSpcReduction="10000"/>
          </a:bodyPr>
          <a:lstStyle xmlns:a="http://schemas.openxmlformats.org/drawingml/2006/main"/>
          <a:p xmlns:a="http://schemas.openxmlformats.org/drawingml/2006/main">
            <a:pPr algn="ctr">
              <a:spcAft>
                <a:spcPts val="5"/>
              </a:spcAft>
              <a:buNone/>
              <a:defRPr>
                <a:latin typeface="Aptos"/>
                <a:ea typeface="Aptos"/>
                <a:cs typeface="Aptos"/>
              </a:defRPr>
            </a:pPr>
            <a:r>
              <a:rPr sz="1700" b="1">
                <a:solidFill>
                  <a:srgbClr val="F8FAFC"/>
                </a:solidFill>
                <a:latin typeface="Aptos"/>
                <a:ea typeface="Aptos"/>
                <a:cs typeface="Aptos"/>
              </a:rPr>
              <a:t>GKE + media endpoints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Scale nodes, pods and load balancers</a:t>
            </a:r>
          </a:p>
        </p:txBody>
      </p:sp>
      <p:sp>
        <p:nvSpPr>
          <p:cNvPr id="28" name="runtime-state">
            <a:extLst xmlns:a="http://schemas.openxmlformats.org/drawingml/2006/main">
              <a:ext uri="{FF2B5EF4-FFF2-40B4-BE49-F238E27FC236}">
                <a16:creationId xmlns:a16="http://schemas.microsoft.com/office/drawing/2014/main" id="{4DB82809-B525-4B77-9E5D-24CB695AFFDC}"/>
              </a:ext>
            </a:extLst>
          </p:cNvPr>
          <p:cNvSpPr>
            <a:spLocks xmlns:a="http://schemas.openxmlformats.org/drawingml/2006/main" noGrp="1"/>
          </p:cNvSpPr>
          <p:nvPr/>
        </p:nvSpPr>
        <p:spPr>
          <a:xfrm xmlns:a="http://schemas.openxmlformats.org/drawingml/2006/main">
            <a:off x="9525000" y="7143750"/>
            <a:ext cx="4762500" cy="762000"/>
          </a:xfrm>
          <a:prstGeom xmlns:a="http://schemas.openxmlformats.org/drawingml/2006/main" prst="roundRect">
            <a:avLst>
              <a:gd name="adj" fmla="val 20000"/>
            </a:avLst>
          </a:prstGeom>
          <a:solidFill xmlns:a="http://schemas.openxmlformats.org/drawingml/2006/main">
            <a:srgbClr val="111A43"/>
          </a:solidFill>
          <a:ln xmlns:a="http://schemas.openxmlformats.org/drawingml/2006/main" w="19050">
            <a:solidFill>
              <a:srgbClr val="FBBF74"/>
            </a:solidFill>
            <a:prstDash val="solid"/>
          </a:ln>
        </p:spPr>
        <p:txBody>
          <a:bodyPr xmlns:a="http://schemas.openxmlformats.org/drawingml/2006/main" wrap="square" lIns="95250" tIns="76200" rIns="95250" bIns="76200" anchor="ctr">
            <a:normAutofit fontScale="92880"/>
          </a:bodyPr>
          <a:lstStyle xmlns:a="http://schemas.openxmlformats.org/drawingml/2006/main"/>
          <a:p xmlns:a="http://schemas.openxmlformats.org/drawingml/2006/main">
            <a:pPr algn="ctr">
              <a:spcAft>
                <a:spcPts val="5"/>
              </a:spcAft>
              <a:buNone/>
              <a:defRPr>
                <a:latin typeface="Aptos"/>
                <a:ea typeface="Aptos"/>
                <a:cs typeface="Aptos"/>
              </a:defRPr>
            </a:pPr>
            <a:r>
              <a:rPr sz="1700" b="1">
                <a:solidFill>
                  <a:srgbClr val="F8FAFC"/>
                </a:solidFill>
                <a:latin typeface="Aptos"/>
                <a:ea typeface="Aptos"/>
                <a:cs typeface="Aptos"/>
              </a:rPr>
              <a:t>READY: 3 nodes   ·   SLEEPING: 0 nodes</a:t>
            </a:r>
          </a:p>
          <a:p xmlns:a="http://schemas.openxmlformats.org/drawingml/2006/main">
            <a:pPr algn="ctr">
              <a:buNone/>
              <a:defRPr>
                <a:latin typeface="Aptos"/>
                <a:ea typeface="Aptos"/>
                <a:cs typeface="Aptos"/>
              </a:defRPr>
            </a:pPr>
            <a:r>
              <a:rPr sz="1600">
                <a:solidFill>
                  <a:srgbClr val="B9C3DD"/>
                </a:solidFill>
                <a:latin typeface="Aptos"/>
                <a:ea typeface="Aptos"/>
                <a:cs typeface="Aptos"/>
              </a:rPr>
              <a:t>30m idle → zero nodes   ·   Lyria → zero runtime calls</a:t>
            </a:r>
          </a:p>
        </p:txBody>
      </p:sp>
      <p:cxnSp>
        <p:nvCxnSpPr>
          <p:cNvPr id="158" name="Straight Arrow Connector 71"/>
          <p:cNvCxnSpPr>
            <a:stCxn xmlns:a="http://schemas.openxmlformats.org/drawingml/2006/main" id="11" idx="3"/>
            <a:endCxn xmlns:a="http://schemas.openxmlformats.org/drawingml/2006/main" id="12" idx="1"/>
          </p:cNvCxnSpPr>
          <p:nvPr/>
        </p:nvCxnSpPr>
        <p:spPr>
          <a:xfrm xmlns:a="http://schemas.openxmlformats.org/drawingml/2006/main">
            <a:off x="2190750" y="2976563"/>
            <a:ext cx="381000" cy="0"/>
          </a:xfrm>
          <a:prstGeom xmlns:a="http://schemas.openxmlformats.org/drawingml/2006/main" prst="straightConnector1">
            <a:avLst/>
          </a:prstGeom>
          <a:ln xmlns:a="http://schemas.openxmlformats.org/drawingml/2006/main" w="28575">
            <a:solidFill>
              <a:srgbClr val="62CDF6"/>
            </a:solidFill>
            <a:prstDash val="solid"/>
            <a:headEnd type="none" w="med" len="med"/>
            <a:tailEnd type="triangle" w="med" len="med"/>
          </a:ln>
        </p:spPr>
      </p:cxnSp>
      <p:cxnSp>
        <p:nvCxnSpPr>
          <p:cNvPr id="159" name="Straight Arrow Connector 72"/>
          <p:cNvCxnSpPr>
            <a:stCxn xmlns:a="http://schemas.openxmlformats.org/drawingml/2006/main" id="12" idx="3"/>
            <a:endCxn xmlns:a="http://schemas.openxmlformats.org/drawingml/2006/main" id="13" idx="1"/>
          </p:cNvCxnSpPr>
          <p:nvPr/>
        </p:nvCxnSpPr>
        <p:spPr>
          <a:xfrm xmlns:a="http://schemas.openxmlformats.org/drawingml/2006/main">
            <a:off x="4095750" y="2976563"/>
            <a:ext cx="381000" cy="0"/>
          </a:xfrm>
          <a:prstGeom xmlns:a="http://schemas.openxmlformats.org/drawingml/2006/main" prst="straightConnector1">
            <a:avLst/>
          </a:prstGeom>
          <a:ln xmlns:a="http://schemas.openxmlformats.org/drawingml/2006/main" w="28575">
            <a:solidFill>
              <a:srgbClr val="62CDF6"/>
            </a:solidFill>
            <a:prstDash val="solid"/>
            <a:headEnd type="none" w="med" len="med"/>
            <a:tailEnd type="triangle" w="med" len="med"/>
          </a:ln>
        </p:spPr>
      </p:cxnSp>
      <p:cxnSp>
        <p:nvCxnSpPr>
          <p:cNvPr id="160" name="Straight Arrow Connector 73"/>
          <p:cNvCxnSpPr>
            <a:stCxn xmlns:a="http://schemas.openxmlformats.org/drawingml/2006/main" id="13" idx="3"/>
            <a:endCxn xmlns:a="http://schemas.openxmlformats.org/drawingml/2006/main" id="14" idx="1"/>
          </p:cNvCxnSpPr>
          <p:nvPr/>
        </p:nvCxnSpPr>
        <p:spPr>
          <a:xfrm xmlns:a="http://schemas.openxmlformats.org/drawingml/2006/main">
            <a:off x="5905500" y="2976563"/>
            <a:ext cx="381000" cy="0"/>
          </a:xfrm>
          <a:prstGeom xmlns:a="http://schemas.openxmlformats.org/drawingml/2006/main" prst="straightConnector1">
            <a:avLst/>
          </a:prstGeom>
          <a:ln xmlns:a="http://schemas.openxmlformats.org/drawingml/2006/main" w="28575">
            <a:solidFill>
              <a:srgbClr val="FF7D73"/>
            </a:solidFill>
            <a:prstDash val="solid"/>
            <a:headEnd type="none" w="med" len="med"/>
            <a:tailEnd type="triangle" w="med" len="med"/>
          </a:ln>
        </p:spPr>
      </p:cxnSp>
      <p:cxnSp>
        <p:nvCxnSpPr>
          <p:cNvPr id="161" name="Straight Arrow Connector 74"/>
          <p:cNvCxnSpPr>
            <a:stCxn xmlns:a="http://schemas.openxmlformats.org/drawingml/2006/main" id="14" idx="3"/>
            <a:endCxn xmlns:a="http://schemas.openxmlformats.org/drawingml/2006/main" id="15" idx="1"/>
          </p:cNvCxnSpPr>
          <p:nvPr/>
        </p:nvCxnSpPr>
        <p:spPr>
          <a:xfrm xmlns:a="http://schemas.openxmlformats.org/drawingml/2006/main">
            <a:off x="8001000" y="2976563"/>
            <a:ext cx="381000" cy="0"/>
          </a:xfrm>
          <a:prstGeom xmlns:a="http://schemas.openxmlformats.org/drawingml/2006/main" prst="straightConnector1">
            <a:avLst/>
          </a:prstGeom>
          <a:ln xmlns:a="http://schemas.openxmlformats.org/drawingml/2006/main" w="28575">
            <a:solidFill>
              <a:srgbClr val="FF7D73"/>
            </a:solidFill>
            <a:prstDash val="solid"/>
            <a:headEnd type="none" w="med" len="med"/>
            <a:tailEnd type="triangle" w="med" len="med"/>
          </a:ln>
        </p:spPr>
      </p:cxnSp>
      <p:cxnSp>
        <p:nvCxnSpPr>
          <p:cNvPr id="162" name="Straight Arrow Connector 75"/>
          <p:cNvCxnSpPr>
            <a:stCxn xmlns:a="http://schemas.openxmlformats.org/drawingml/2006/main" id="15" idx="3"/>
            <a:endCxn xmlns:a="http://schemas.openxmlformats.org/drawingml/2006/main" id="16" idx="1"/>
          </p:cNvCxnSpPr>
          <p:nvPr/>
        </p:nvCxnSpPr>
        <p:spPr>
          <a:xfrm xmlns:a="http://schemas.openxmlformats.org/drawingml/2006/main">
            <a:off x="10191750" y="2976563"/>
            <a:ext cx="381000" cy="0"/>
          </a:xfrm>
          <a:prstGeom xmlns:a="http://schemas.openxmlformats.org/drawingml/2006/main" prst="straightConnector1">
            <a:avLst/>
          </a:prstGeom>
          <a:ln xmlns:a="http://schemas.openxmlformats.org/drawingml/2006/main" w="28575">
            <a:solidFill>
              <a:srgbClr val="63E6BE"/>
            </a:solidFill>
            <a:prstDash val="solid"/>
            <a:headEnd type="none" w="med" len="med"/>
            <a:tailEnd type="triangle" w="med" len="med"/>
          </a:ln>
        </p:spPr>
      </p:cxnSp>
      <p:cxnSp>
        <p:nvCxnSpPr>
          <p:cNvPr id="163" name="Straight Arrow Connector 76"/>
          <p:cNvCxnSpPr>
            <a:stCxn xmlns:a="http://schemas.openxmlformats.org/drawingml/2006/main" id="16" idx="3"/>
            <a:endCxn xmlns:a="http://schemas.openxmlformats.org/drawingml/2006/main" id="17" idx="1"/>
          </p:cNvCxnSpPr>
          <p:nvPr/>
        </p:nvCxnSpPr>
        <p:spPr>
          <a:xfrm xmlns:a="http://schemas.openxmlformats.org/drawingml/2006/main">
            <a:off x="12477750" y="2976563"/>
            <a:ext cx="381000" cy="0"/>
          </a:xfrm>
          <a:prstGeom xmlns:a="http://schemas.openxmlformats.org/drawingml/2006/main" prst="straightConnector1">
            <a:avLst/>
          </a:prstGeom>
          <a:ln xmlns:a="http://schemas.openxmlformats.org/drawingml/2006/main" w="28575">
            <a:solidFill>
              <a:srgbClr val="62CDF6"/>
            </a:solidFill>
            <a:prstDash val="solid"/>
            <a:headEnd type="arrow" w="med" len="med"/>
            <a:tailEnd type="arrow" w="med" len="med"/>
          </a:ln>
        </p:spPr>
      </p:cxnSp>
      <p:cxnSp>
        <p:nvCxnSpPr>
          <p:cNvPr id="164" name="Straight Arrow Connector 77"/>
          <p:cNvCxnSpPr>
            <a:stCxn xmlns:a="http://schemas.openxmlformats.org/drawingml/2006/main" id="18" idx="3"/>
            <a:endCxn xmlns:a="http://schemas.openxmlformats.org/drawingml/2006/main" id="19" idx="1"/>
          </p:cNvCxnSpPr>
          <p:nvPr/>
        </p:nvCxnSpPr>
        <p:spPr>
          <a:xfrm xmlns:a="http://schemas.openxmlformats.org/drawingml/2006/main">
            <a:off x="2333625" y="5548313"/>
            <a:ext cx="523875" cy="0"/>
          </a:xfrm>
          <a:prstGeom xmlns:a="http://schemas.openxmlformats.org/drawingml/2006/main" prst="straightConnector1">
            <a:avLst/>
          </a:prstGeom>
          <a:ln xmlns:a="http://schemas.openxmlformats.org/drawingml/2006/main" w="28575">
            <a:solidFill>
              <a:srgbClr val="62CDF6"/>
            </a:solidFill>
            <a:prstDash val="solid"/>
            <a:headEnd type="none" w="med" len="med"/>
            <a:tailEnd type="triangle" w="med" len="med"/>
          </a:ln>
        </p:spPr>
      </p:cxnSp>
      <p:cxnSp>
        <p:nvCxnSpPr>
          <p:cNvPr id="165" name="Straight Arrow Connector 78"/>
          <p:cNvCxnSpPr>
            <a:stCxn xmlns:a="http://schemas.openxmlformats.org/drawingml/2006/main" id="19" idx="3"/>
            <a:endCxn xmlns:a="http://schemas.openxmlformats.org/drawingml/2006/main" id="20" idx="1"/>
          </p:cNvCxnSpPr>
          <p:nvPr/>
        </p:nvCxnSpPr>
        <p:spPr>
          <a:xfrm xmlns:a="http://schemas.openxmlformats.org/drawingml/2006/main">
            <a:off x="4333875" y="5548313"/>
            <a:ext cx="523875" cy="0"/>
          </a:xfrm>
          <a:prstGeom xmlns:a="http://schemas.openxmlformats.org/drawingml/2006/main" prst="straightConnector1">
            <a:avLst/>
          </a:prstGeom>
          <a:ln xmlns:a="http://schemas.openxmlformats.org/drawingml/2006/main" w="28575">
            <a:solidFill>
              <a:srgbClr val="FF7D73"/>
            </a:solidFill>
            <a:prstDash val="solid"/>
            <a:headEnd type="none" w="med" len="med"/>
            <a:tailEnd type="triangle" w="med" len="med"/>
          </a:ln>
        </p:spPr>
      </p:cxnSp>
      <p:cxnSp>
        <p:nvCxnSpPr>
          <p:cNvPr id="166" name="Straight Arrow Connector 79"/>
          <p:cNvCxnSpPr>
            <a:stCxn xmlns:a="http://schemas.openxmlformats.org/drawingml/2006/main" id="20" idx="3"/>
            <a:endCxn xmlns:a="http://schemas.openxmlformats.org/drawingml/2006/main" id="21" idx="1"/>
          </p:cNvCxnSpPr>
          <p:nvPr/>
        </p:nvCxnSpPr>
        <p:spPr>
          <a:xfrm xmlns:a="http://schemas.openxmlformats.org/drawingml/2006/main">
            <a:off x="6715125" y="5548313"/>
            <a:ext cx="523875" cy="0"/>
          </a:xfrm>
          <a:prstGeom xmlns:a="http://schemas.openxmlformats.org/drawingml/2006/main" prst="straightConnector1">
            <a:avLst/>
          </a:prstGeom>
          <a:ln xmlns:a="http://schemas.openxmlformats.org/drawingml/2006/main" w="28575">
            <a:solidFill>
              <a:srgbClr val="63E6BE"/>
            </a:solidFill>
            <a:prstDash val="solid"/>
            <a:headEnd type="arrow" w="med" len="med"/>
            <a:tailEnd type="arrow" w="med" len="med"/>
          </a:ln>
        </p:spPr>
      </p:cxnSp>
      <p:cxnSp>
        <p:nvCxnSpPr>
          <p:cNvPr id="167" name="Straight Arrow Connector 80"/>
          <p:cNvCxnSpPr>
            <a:stCxn xmlns:a="http://schemas.openxmlformats.org/drawingml/2006/main" id="21" idx="3"/>
            <a:endCxn xmlns:a="http://schemas.openxmlformats.org/drawingml/2006/main" id="22" idx="1"/>
          </p:cNvCxnSpPr>
          <p:nvPr/>
        </p:nvCxnSpPr>
        <p:spPr>
          <a:xfrm xmlns:a="http://schemas.openxmlformats.org/drawingml/2006/main">
            <a:off x="8905875" y="5548313"/>
            <a:ext cx="523875" cy="0"/>
          </a:xfrm>
          <a:prstGeom xmlns:a="http://schemas.openxmlformats.org/drawingml/2006/main" prst="straightConnector1">
            <a:avLst/>
          </a:prstGeom>
          <a:ln xmlns:a="http://schemas.openxmlformats.org/drawingml/2006/main" w="28575">
            <a:solidFill>
              <a:srgbClr val="63E6BE"/>
            </a:solidFill>
            <a:prstDash val="solid"/>
            <a:headEnd type="none" w="med" len="med"/>
            <a:tailEnd type="triangle" w="med" len="med"/>
          </a:ln>
        </p:spPr>
      </p:cxnSp>
      <p:cxnSp>
        <p:nvCxnSpPr>
          <p:cNvPr id="168" name="Straight Arrow Connector 81"/>
          <p:cNvCxnSpPr>
            <a:stCxn xmlns:a="http://schemas.openxmlformats.org/drawingml/2006/main" id="22" idx="3"/>
            <a:endCxn xmlns:a="http://schemas.openxmlformats.org/drawingml/2006/main" id="23" idx="1"/>
          </p:cNvCxnSpPr>
          <p:nvPr/>
        </p:nvCxnSpPr>
        <p:spPr>
          <a:xfrm xmlns:a="http://schemas.openxmlformats.org/drawingml/2006/main">
            <a:off x="11334750" y="5548313"/>
            <a:ext cx="523875" cy="0"/>
          </a:xfrm>
          <a:prstGeom xmlns:a="http://schemas.openxmlformats.org/drawingml/2006/main" prst="straightConnector1">
            <a:avLst/>
          </a:prstGeom>
          <a:ln xmlns:a="http://schemas.openxmlformats.org/drawingml/2006/main" w="28575">
            <a:solidFill>
              <a:srgbClr val="62CDF6"/>
            </a:solidFill>
            <a:prstDash val="solid"/>
            <a:headEnd type="none" w="med" len="med"/>
            <a:tailEnd type="triangle" w="med" len="med"/>
          </a:ln>
        </p:spPr>
      </p:cxnSp>
      <p:cxnSp>
        <p:nvCxnSpPr>
          <p:cNvPr id="169" name="Elbow Connector 82"/>
          <p:cNvCxnSpPr>
            <a:stCxn xmlns:a="http://schemas.openxmlformats.org/drawingml/2006/main" id="24" idx="3"/>
            <a:endCxn xmlns:a="http://schemas.openxmlformats.org/drawingml/2006/main" id="26" idx="1"/>
          </p:cNvCxnSpPr>
          <p:nvPr/>
        </p:nvCxnSpPr>
        <p:spPr>
          <a:xfrm xmlns:a="http://schemas.openxmlformats.org/drawingml/2006/main">
            <a:off x="2571750" y="7119938"/>
            <a:ext cx="666750" cy="404813"/>
          </a:xfrm>
          <a:prstGeom xmlns:a="http://schemas.openxmlformats.org/drawingml/2006/main" prst="bentConnector3">
            <a:avLst>
              <a:gd name="adj1" fmla="val 50000"/>
            </a:avLst>
          </a:prstGeom>
          <a:ln xmlns:a="http://schemas.openxmlformats.org/drawingml/2006/main" w="28575">
            <a:solidFill>
              <a:srgbClr val="FBBF74"/>
            </a:solidFill>
            <a:prstDash val="solid"/>
            <a:headEnd type="none" w="med" len="med"/>
            <a:tailEnd type="triangle" w="med" len="med"/>
          </a:ln>
        </p:spPr>
      </p:cxnSp>
      <p:cxnSp>
        <p:nvCxnSpPr>
          <p:cNvPr id="170" name="Elbow Connector 83"/>
          <p:cNvCxnSpPr>
            <a:stCxn xmlns:a="http://schemas.openxmlformats.org/drawingml/2006/main" id="25" idx="3"/>
            <a:endCxn xmlns:a="http://schemas.openxmlformats.org/drawingml/2006/main" id="26" idx="1"/>
          </p:cNvCxnSpPr>
          <p:nvPr/>
        </p:nvCxnSpPr>
        <p:spPr>
          <a:xfrm xmlns:a="http://schemas.openxmlformats.org/drawingml/2006/main" flipV="1">
            <a:off x="2571750" y="7524750"/>
            <a:ext cx="666750" cy="328613"/>
          </a:xfrm>
          <a:prstGeom xmlns:a="http://schemas.openxmlformats.org/drawingml/2006/main" prst="bentConnector3">
            <a:avLst>
              <a:gd name="adj1" fmla="val 50000"/>
            </a:avLst>
          </a:prstGeom>
          <a:ln xmlns:a="http://schemas.openxmlformats.org/drawingml/2006/main" w="28575">
            <a:solidFill>
              <a:srgbClr val="63E6BE"/>
            </a:solidFill>
            <a:prstDash val="solid"/>
            <a:headEnd type="none" w="med" len="med"/>
            <a:tailEnd type="triangle" w="med" len="med"/>
          </a:ln>
        </p:spPr>
      </p:cxnSp>
      <p:cxnSp>
        <p:nvCxnSpPr>
          <p:cNvPr id="171" name="Straight Arrow Connector 84"/>
          <p:cNvCxnSpPr>
            <a:stCxn xmlns:a="http://schemas.openxmlformats.org/drawingml/2006/main" id="26" idx="3"/>
            <a:endCxn xmlns:a="http://schemas.openxmlformats.org/drawingml/2006/main" id="27" idx="1"/>
          </p:cNvCxnSpPr>
          <p:nvPr/>
        </p:nvCxnSpPr>
        <p:spPr>
          <a:xfrm xmlns:a="http://schemas.openxmlformats.org/drawingml/2006/main">
            <a:off x="5334000" y="7524750"/>
            <a:ext cx="857250" cy="0"/>
          </a:xfrm>
          <a:prstGeom xmlns:a="http://schemas.openxmlformats.org/drawingml/2006/main" prst="straightConnector1">
            <a:avLst/>
          </a:prstGeom>
          <a:ln xmlns:a="http://schemas.openxmlformats.org/drawingml/2006/main" w="28575">
            <a:solidFill>
              <a:srgbClr val="FF7D73"/>
            </a:solidFill>
            <a:prstDash val="solid"/>
            <a:headEnd type="none" w="med" len="med"/>
            <a:tailEnd type="triangle" w="med" len="med"/>
          </a:ln>
        </p:spPr>
      </p:cxnSp>
      <p:cxnSp>
        <p:nvCxnSpPr>
          <p:cNvPr id="172" name="Straight Arrow Connector 85"/>
          <p:cNvCxnSpPr>
            <a:stCxn xmlns:a="http://schemas.openxmlformats.org/drawingml/2006/main" id="27" idx="3"/>
            <a:endCxn xmlns:a="http://schemas.openxmlformats.org/drawingml/2006/main" id="28" idx="1"/>
          </p:cNvCxnSpPr>
          <p:nvPr/>
        </p:nvCxnSpPr>
        <p:spPr>
          <a:xfrm xmlns:a="http://schemas.openxmlformats.org/drawingml/2006/main">
            <a:off x="8667750" y="7524750"/>
            <a:ext cx="857250" cy="0"/>
          </a:xfrm>
          <a:prstGeom xmlns:a="http://schemas.openxmlformats.org/drawingml/2006/main" prst="straightConnector1">
            <a:avLst/>
          </a:prstGeom>
          <a:ln xmlns:a="http://schemas.openxmlformats.org/drawingml/2006/main" w="28575">
            <a:solidFill>
              <a:srgbClr val="8B7CFF"/>
            </a:solidFill>
            <a:prstDash val="solid"/>
            <a:headEnd type="none" w="med" len="med"/>
            <a:tailEnd type="triangle" w="med" len="med"/>
          </a:ln>
        </p:spPr>
      </p:cxnSp>
    </p:spTree>
    <p:extLst>
      <p:ext uri="{BB962C8B-B14F-4D97-AF65-F5344CB8AC3E}">
        <p14:creationId xmlns:p14="http://schemas.microsoft.com/office/powerpoint/2010/main" val="7366210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2026-08-31T15:27:44.6780000Z</dcterms:created>
  <dcterms:modified xsi:type="dcterms:W3CDTF">2026-08-31T15:27:44.6780000Z</dcterms:modified>
</coreProperties>
</file>